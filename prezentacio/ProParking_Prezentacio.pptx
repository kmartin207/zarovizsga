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70" r:id="rId5"/>
    <p:sldId id="262" r:id="rId6"/>
    <p:sldId id="269" r:id="rId7"/>
    <p:sldId id="261" r:id="rId8"/>
    <p:sldId id="268" r:id="rId9"/>
    <p:sldId id="266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16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2806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C7143-53F3-433D-D151-C0E89C596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D0244B-D371-2960-D3CD-C1EF90076E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5D66FA-FAFF-3EBC-E166-E018160663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A06377-DE87-DEEA-C58D-FD4530CEBB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5828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A56DB">
              <a:alpha val="20000"/>
            </a:srgbClr>
          </a:solidFill>
          <a:ln w="12700">
            <a:solidFill>
              <a:srgbClr val="1A56D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0" y="73152"/>
            <a:ext cx="9144000" cy="36576"/>
          </a:xfrm>
          <a:prstGeom prst="rect">
            <a:avLst/>
          </a:prstGeom>
          <a:solidFill>
            <a:srgbClr val="60A5FA">
              <a:alpha val="60000"/>
            </a:srgbClr>
          </a:solidFill>
          <a:ln w="12700">
            <a:solidFill>
              <a:srgbClr val="60A5F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Shape 4"/>
          <p:cNvSpPr/>
          <p:nvPr/>
        </p:nvSpPr>
        <p:spPr>
          <a:xfrm>
            <a:off x="457200" y="365760"/>
            <a:ext cx="640080" cy="6400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1148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38404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ProParking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Okos Parkolórendszer</a:t>
            </a:r>
            <a:endParaRPr lang="en-US" sz="5200" dirty="0"/>
          </a:p>
        </p:txBody>
      </p:sp>
      <p:sp>
        <p:nvSpPr>
          <p:cNvPr id="10" name="Text 7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Informatikai Projekt – Szakmai Vizsga Bemutató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57200" y="3474720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1A56DB">
              <a:alpha val="70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2" name="Text 9"/>
          <p:cNvSpPr/>
          <p:nvPr/>
        </p:nvSpPr>
        <p:spPr>
          <a:xfrm>
            <a:off x="457200" y="34930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Webalkalmazás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560320" y="3474720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1A56DB">
              <a:alpha val="70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" name="Text 11"/>
          <p:cNvSpPr/>
          <p:nvPr/>
        </p:nvSpPr>
        <p:spPr>
          <a:xfrm>
            <a:off x="2560320" y="34930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Felület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663440" y="3474720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1A56DB">
              <a:alpha val="70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6" name="Text 13"/>
          <p:cNvSpPr/>
          <p:nvPr/>
        </p:nvSpPr>
        <p:spPr>
          <a:xfrm>
            <a:off x="4663440" y="34930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u-HU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Hardveres kihívás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766560" y="3474720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1A56DB">
              <a:alpha val="70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8" name="Text 15"/>
          <p:cNvSpPr/>
          <p:nvPr/>
        </p:nvSpPr>
        <p:spPr>
          <a:xfrm>
            <a:off x="6766560" y="34930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Adatbázis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0" name="Text 1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</a:t>
            </a:r>
            <a:r>
              <a:rPr lang="hu-HU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Szakmai Vizsga  ·  Informatika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3600" b="1" dirty="0">
                <a:solidFill>
                  <a:srgbClr val="FFFFFF"/>
                </a:solidFill>
                <a:latin typeface="Arial Black" pitchFamily="34" charset="0"/>
              </a:rPr>
              <a:t>Miért pont ez a projekt?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projekt motivációja és célkitűzései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2651760" cy="3108960"/>
          </a:xfrm>
          <a:prstGeom prst="rect">
            <a:avLst/>
          </a:prstGeom>
          <a:solidFill>
            <a:srgbClr val="142237"/>
          </a:solidFill>
          <a:ln w="12700">
            <a:solidFill>
              <a:srgbClr val="1A56DB">
                <a:alpha val="5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2651760" cy="548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Shape 5"/>
          <p:cNvSpPr/>
          <p:nvPr/>
        </p:nvSpPr>
        <p:spPr>
          <a:xfrm>
            <a:off x="1188720" y="1691640"/>
            <a:ext cx="914400" cy="91440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448" y="1801368"/>
            <a:ext cx="685800" cy="685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27432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Elavult megoldások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" y="324612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hagyományos parkolórendszerek nem nyújtanak valós idejű adatokat, sok az emberi hiba és az átláthatatlan adminisztráció.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0" y="1508760"/>
            <a:ext cx="2651760" cy="3108960"/>
          </a:xfrm>
          <a:prstGeom prst="rect">
            <a:avLst/>
          </a:prstGeom>
          <a:solidFill>
            <a:srgbClr val="142237"/>
          </a:solidFill>
          <a:ln w="12700">
            <a:solidFill>
              <a:srgbClr val="1A56DB">
                <a:alpha val="5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hu-HU" dirty="0"/>
          </a:p>
        </p:txBody>
      </p:sp>
      <p:sp>
        <p:nvSpPr>
          <p:cNvPr id="12" name="Shape 9"/>
          <p:cNvSpPr/>
          <p:nvPr/>
        </p:nvSpPr>
        <p:spPr>
          <a:xfrm>
            <a:off x="3200400" y="1508760"/>
            <a:ext cx="2651760" cy="548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3" name="Shape 10"/>
          <p:cNvSpPr/>
          <p:nvPr/>
        </p:nvSpPr>
        <p:spPr>
          <a:xfrm>
            <a:off x="4069080" y="1691640"/>
            <a:ext cx="914400" cy="91440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8808" y="1801368"/>
            <a:ext cx="685800" cy="6858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00400" y="27432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Hatékonyság igénye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291840" y="324612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u-HU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Célunk a cégekkel való együttműködés lehető legmagasabb szinten.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080760" y="1508760"/>
            <a:ext cx="2651760" cy="3108960"/>
          </a:xfrm>
          <a:prstGeom prst="rect">
            <a:avLst/>
          </a:prstGeom>
          <a:solidFill>
            <a:srgbClr val="142237"/>
          </a:solidFill>
          <a:ln w="12700">
            <a:solidFill>
              <a:srgbClr val="1A56DB">
                <a:alpha val="5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8" name="Shape 14"/>
          <p:cNvSpPr/>
          <p:nvPr/>
        </p:nvSpPr>
        <p:spPr>
          <a:xfrm>
            <a:off x="6080760" y="1508760"/>
            <a:ext cx="2651760" cy="548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9" name="Shape 15"/>
          <p:cNvSpPr/>
          <p:nvPr/>
        </p:nvSpPr>
        <p:spPr>
          <a:xfrm>
            <a:off x="6949440" y="1691640"/>
            <a:ext cx="914400" cy="91440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9168" y="1801368"/>
            <a:ext cx="685800" cy="6858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080760" y="27432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Informatikai kihívás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172200" y="324612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Valós webalkalmazást akartunk fejleszteni – adatbázissal, admin felülettel, felhasználókezeléssel</a:t>
            </a:r>
            <a:r>
              <a:rPr lang="hu-HU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illetve szerettünk volna megvalósítani egy hardveres kihívást is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Felhasznált</a:t>
            </a: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hu-HU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Programnyelvek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743200" cy="1554480"/>
          </a:xfrm>
          <a:prstGeom prst="rect">
            <a:avLst/>
          </a:prstGeom>
          <a:solidFill>
            <a:srgbClr val="142237"/>
          </a:solidFill>
          <a:ln w="12700">
            <a:solidFill>
              <a:srgbClr val="E34F26">
                <a:alpha val="5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743200" cy="64008"/>
          </a:xfrm>
          <a:prstGeom prst="rect">
            <a:avLst/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" cy="822960"/>
          </a:xfrm>
          <a:prstGeom prst="ellipse">
            <a:avLst/>
          </a:prstGeom>
          <a:solidFill>
            <a:srgbClr val="E34F26">
              <a:alpha val="80000"/>
            </a:srgbClr>
          </a:solidFill>
          <a:ln w="12700">
            <a:solidFill>
              <a:srgbClr val="E34F2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71600"/>
            <a:ext cx="731520" cy="731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29844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HTML5 / CSS3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2148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Strukturált, reszponzív frontend kialakítás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46120" y="1188720"/>
            <a:ext cx="2743200" cy="1554480"/>
          </a:xfrm>
          <a:prstGeom prst="rect">
            <a:avLst/>
          </a:prstGeom>
          <a:solidFill>
            <a:srgbClr val="142237"/>
          </a:solidFill>
          <a:ln w="12700">
            <a:solidFill>
              <a:srgbClr val="F7DF1E">
                <a:alpha val="5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1" name="Shape 8"/>
          <p:cNvSpPr/>
          <p:nvPr/>
        </p:nvSpPr>
        <p:spPr>
          <a:xfrm>
            <a:off x="3246120" y="1188720"/>
            <a:ext cx="2743200" cy="64008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2" name="Shape 9"/>
          <p:cNvSpPr/>
          <p:nvPr/>
        </p:nvSpPr>
        <p:spPr>
          <a:xfrm>
            <a:off x="3383280" y="1325880"/>
            <a:ext cx="822960" cy="822960"/>
          </a:xfrm>
          <a:prstGeom prst="ellipse">
            <a:avLst/>
          </a:prstGeom>
          <a:solidFill>
            <a:srgbClr val="F7DF1E">
              <a:alpha val="80000"/>
            </a:srgbClr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371600"/>
            <a:ext cx="731520" cy="7315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297680" y="129844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JavaScript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337560" y="2148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Dinamikus felhasználói felület, AJAX kérések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172200" y="1188720"/>
            <a:ext cx="2743200" cy="1554480"/>
          </a:xfrm>
          <a:prstGeom prst="rect">
            <a:avLst/>
          </a:prstGeom>
          <a:solidFill>
            <a:srgbClr val="142237"/>
          </a:solidFill>
          <a:ln w="12700">
            <a:solidFill>
              <a:srgbClr val="777BB4">
                <a:alpha val="5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7" name="Shape 13"/>
          <p:cNvSpPr/>
          <p:nvPr/>
        </p:nvSpPr>
        <p:spPr>
          <a:xfrm>
            <a:off x="6172200" y="1188720"/>
            <a:ext cx="2743200" cy="64008"/>
          </a:xfrm>
          <a:prstGeom prst="rect">
            <a:avLst/>
          </a:prstGeom>
          <a:solidFill>
            <a:srgbClr val="777BB4"/>
          </a:solidFill>
          <a:ln w="12700">
            <a:solidFill>
              <a:srgbClr val="777BB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8" name="Shape 14"/>
          <p:cNvSpPr/>
          <p:nvPr/>
        </p:nvSpPr>
        <p:spPr>
          <a:xfrm>
            <a:off x="6309360" y="1325880"/>
            <a:ext cx="822960" cy="822960"/>
          </a:xfrm>
          <a:prstGeom prst="ellipse">
            <a:avLst/>
          </a:prstGeom>
          <a:solidFill>
            <a:srgbClr val="777BB4">
              <a:alpha val="80000"/>
            </a:srgbClr>
          </a:solidFill>
          <a:ln w="12700">
            <a:solidFill>
              <a:srgbClr val="777BB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371600"/>
            <a:ext cx="731520" cy="7315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223760" y="129844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PHP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263640" y="2148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Szerver oldali logika, session kezelés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320040" y="3017520"/>
            <a:ext cx="2743200" cy="1554480"/>
          </a:xfrm>
          <a:prstGeom prst="rect">
            <a:avLst/>
          </a:prstGeom>
          <a:solidFill>
            <a:srgbClr val="142237"/>
          </a:solidFill>
          <a:ln w="12700">
            <a:solidFill>
              <a:srgbClr val="4479A1">
                <a:alpha val="5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3" name="Shape 18"/>
          <p:cNvSpPr/>
          <p:nvPr/>
        </p:nvSpPr>
        <p:spPr>
          <a:xfrm>
            <a:off x="320040" y="3017520"/>
            <a:ext cx="2743200" cy="64008"/>
          </a:xfrm>
          <a:prstGeom prst="rect">
            <a:avLst/>
          </a:prstGeom>
          <a:solidFill>
            <a:srgbClr val="4479A1"/>
          </a:solidFill>
          <a:ln w="12700">
            <a:solidFill>
              <a:srgbClr val="4479A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4" name="Shape 19"/>
          <p:cNvSpPr/>
          <p:nvPr/>
        </p:nvSpPr>
        <p:spPr>
          <a:xfrm>
            <a:off x="457200" y="3154680"/>
            <a:ext cx="822960" cy="822960"/>
          </a:xfrm>
          <a:prstGeom prst="ellipse">
            <a:avLst/>
          </a:prstGeom>
          <a:solidFill>
            <a:srgbClr val="4479A1">
              <a:alpha val="80000"/>
            </a:srgbClr>
          </a:solidFill>
          <a:ln w="12700">
            <a:solidFill>
              <a:srgbClr val="4479A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200400"/>
            <a:ext cx="731520" cy="7315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371600" y="312724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MySQL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411480" y="3977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Relációs adatbázis, optimalizált lekérdezések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6172200" y="3017520"/>
            <a:ext cx="2743200" cy="1554480"/>
          </a:xfrm>
          <a:prstGeom prst="rect">
            <a:avLst/>
          </a:prstGeom>
          <a:solidFill>
            <a:srgbClr val="142237"/>
          </a:solidFill>
          <a:ln w="12700">
            <a:solidFill>
              <a:srgbClr val="D22128">
                <a:alpha val="5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35" name="Shape 28"/>
          <p:cNvSpPr/>
          <p:nvPr/>
        </p:nvSpPr>
        <p:spPr>
          <a:xfrm>
            <a:off x="6172200" y="3017520"/>
            <a:ext cx="2743200" cy="64008"/>
          </a:xfrm>
          <a:prstGeom prst="rect">
            <a:avLst/>
          </a:prstGeom>
          <a:solidFill>
            <a:srgbClr val="D22128"/>
          </a:solidFill>
          <a:ln w="12700">
            <a:solidFill>
              <a:srgbClr val="D2212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6" name="Shape 29"/>
          <p:cNvSpPr/>
          <p:nvPr/>
        </p:nvSpPr>
        <p:spPr>
          <a:xfrm>
            <a:off x="6309360" y="3154680"/>
            <a:ext cx="822960" cy="822960"/>
          </a:xfrm>
          <a:prstGeom prst="ellipse">
            <a:avLst/>
          </a:prstGeom>
          <a:solidFill>
            <a:srgbClr val="D22128">
              <a:alpha val="80000"/>
            </a:srgbClr>
          </a:solidFill>
          <a:ln w="12700">
            <a:solidFill>
              <a:srgbClr val="D2212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3200400"/>
            <a:ext cx="731520" cy="73152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7223760" y="312724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Micro Python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6263640" y="3977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Hardveres rész működtetése.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FDE580C6-106C-4714-88B5-B64DA6AECE57}"/>
              </a:ext>
            </a:extLst>
          </p:cNvPr>
          <p:cNvSpPr txBox="1"/>
          <p:nvPr/>
        </p:nvSpPr>
        <p:spPr>
          <a:xfrm>
            <a:off x="3873500" y="2197100"/>
            <a:ext cx="465095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Angolul elején</a:t>
            </a:r>
          </a:p>
          <a:p>
            <a:r>
              <a:rPr lang="hu-HU" dirty="0"/>
              <a:t>Helyesírás</a:t>
            </a:r>
          </a:p>
          <a:p>
            <a:r>
              <a:rPr lang="hu-HU" dirty="0"/>
              <a:t>Másik ikon</a:t>
            </a:r>
          </a:p>
          <a:p>
            <a:r>
              <a:rPr lang="hu-HU" dirty="0"/>
              <a:t>Hardver</a:t>
            </a:r>
          </a:p>
          <a:p>
            <a:r>
              <a:rPr lang="hu-HU" dirty="0"/>
              <a:t>3D nyomtatás – modellezés </a:t>
            </a:r>
            <a:r>
              <a:rPr lang="hu-HU" dirty="0" err="1"/>
              <a:t>TinkerCad</a:t>
            </a:r>
            <a:r>
              <a:rPr lang="hu-HU" dirty="0"/>
              <a:t>, Shapr3D</a:t>
            </a:r>
          </a:p>
          <a:p>
            <a:r>
              <a:rPr lang="hu-HU" dirty="0"/>
              <a:t>Neveink a végén</a:t>
            </a:r>
          </a:p>
          <a:p>
            <a:r>
              <a:rPr lang="hu-HU" dirty="0"/>
              <a:t>Képek a végén magunkról, weboldalról</a:t>
            </a:r>
            <a:r>
              <a:rPr lang="hu-HU"/>
              <a:t>, </a:t>
            </a:r>
          </a:p>
          <a:p>
            <a:r>
              <a:rPr lang="hu-HU"/>
              <a:t>hardverről </a:t>
            </a:r>
            <a:r>
              <a:rPr lang="hu-HU" dirty="0"/>
              <a:t>és kisautóról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9D81EE05-2B6C-48FA-BF7B-48FA8502F41A}"/>
              </a:ext>
            </a:extLst>
          </p:cNvPr>
          <p:cNvSpPr txBox="1"/>
          <p:nvPr/>
        </p:nvSpPr>
        <p:spPr>
          <a:xfrm>
            <a:off x="228600" y="1098550"/>
            <a:ext cx="3740576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Sorrend:</a:t>
            </a:r>
          </a:p>
          <a:p>
            <a:r>
              <a:rPr lang="hu-HU" dirty="0"/>
              <a:t>Bevezetés – fő oldal, </a:t>
            </a:r>
            <a:r>
              <a:rPr lang="hu-HU" dirty="0" err="1"/>
              <a:t>weiss.proparking</a:t>
            </a:r>
            <a:endParaRPr lang="hu-HU" dirty="0"/>
          </a:p>
          <a:p>
            <a:r>
              <a:rPr lang="hu-HU" dirty="0"/>
              <a:t>Adatbázis</a:t>
            </a:r>
          </a:p>
          <a:p>
            <a:r>
              <a:rPr lang="hu-HU" dirty="0"/>
              <a:t>Főoldal – </a:t>
            </a:r>
            <a:r>
              <a:rPr lang="hu-HU" dirty="0" err="1"/>
              <a:t>demo</a:t>
            </a:r>
            <a:endParaRPr lang="hu-HU" dirty="0"/>
          </a:p>
          <a:p>
            <a:r>
              <a:rPr lang="hu-HU" dirty="0" err="1"/>
              <a:t>Apiról</a:t>
            </a:r>
            <a:r>
              <a:rPr lang="hu-HU" dirty="0"/>
              <a:t> pár mondat</a:t>
            </a:r>
          </a:p>
          <a:p>
            <a:endParaRPr lang="hu-HU" dirty="0"/>
          </a:p>
          <a:p>
            <a:r>
              <a:rPr lang="hu-HU" dirty="0"/>
              <a:t>Végére:</a:t>
            </a:r>
          </a:p>
          <a:p>
            <a:r>
              <a:rPr lang="hu-HU" dirty="0"/>
              <a:t>Mi valósult meg</a:t>
            </a:r>
          </a:p>
          <a:p>
            <a:r>
              <a:rPr lang="hu-HU" dirty="0"/>
              <a:t>Jövőbeli tervek</a:t>
            </a:r>
          </a:p>
          <a:p>
            <a:r>
              <a:rPr lang="hu-HU" dirty="0"/>
              <a:t>Tapasztalat – mit tanultunk</a:t>
            </a:r>
          </a:p>
          <a:p>
            <a:r>
              <a:rPr lang="hu-HU" dirty="0"/>
              <a:t>Mi volt nehéz</a:t>
            </a:r>
          </a:p>
          <a:p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453868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Főbb Funkciók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251960" cy="1691640"/>
          </a:xfrm>
          <a:prstGeom prst="rect">
            <a:avLst/>
          </a:prstGeom>
          <a:solidFill>
            <a:srgbClr val="142237"/>
          </a:solidFill>
          <a:ln w="12700">
            <a:solidFill>
              <a:srgbClr val="1A56DB">
                <a:alpha val="5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251960" cy="548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Shape 4"/>
          <p:cNvSpPr/>
          <p:nvPr/>
        </p:nvSpPr>
        <p:spPr>
          <a:xfrm>
            <a:off x="365760" y="1216152"/>
            <a:ext cx="777240" cy="777240"/>
          </a:xfrm>
          <a:prstGeom prst="ellipse">
            <a:avLst/>
          </a:prstGeom>
          <a:solidFill>
            <a:srgbClr val="1A56DB">
              <a:alpha val="80000"/>
            </a:srgbClr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261872"/>
            <a:ext cx="685800" cy="685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2344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Regisztráció &amp; Bejelentkezés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182880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18013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Biztonságos jelszó hashelés</a:t>
            </a:r>
            <a:endParaRPr lang="en-US" sz="10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2121408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54480" y="209397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alapú autentikáció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2414016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54480" y="23865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Szerepkör alapú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hozzáférés</a:t>
            </a:r>
            <a:endParaRPr lang="en-US" sz="1000" dirty="0"/>
          </a:p>
        </p:txBody>
      </p:sp>
      <p:sp>
        <p:nvSpPr>
          <p:cNvPr id="15" name="Shape 9"/>
          <p:cNvSpPr/>
          <p:nvPr/>
        </p:nvSpPr>
        <p:spPr>
          <a:xfrm>
            <a:off x="4846320" y="1097280"/>
            <a:ext cx="4251960" cy="1691640"/>
          </a:xfrm>
          <a:prstGeom prst="rect">
            <a:avLst/>
          </a:prstGeom>
          <a:solidFill>
            <a:srgbClr val="142237"/>
          </a:solidFill>
          <a:ln w="12700">
            <a:solidFill>
              <a:srgbClr val="0D9488">
                <a:alpha val="5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6" name="Shape 10"/>
          <p:cNvSpPr/>
          <p:nvPr/>
        </p:nvSpPr>
        <p:spPr>
          <a:xfrm>
            <a:off x="4846320" y="1097280"/>
            <a:ext cx="42519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7" name="Shape 11"/>
          <p:cNvSpPr/>
          <p:nvPr/>
        </p:nvSpPr>
        <p:spPr>
          <a:xfrm>
            <a:off x="4937760" y="1216152"/>
            <a:ext cx="777240" cy="777240"/>
          </a:xfrm>
          <a:prstGeom prst="ellipse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1261872"/>
            <a:ext cx="685800" cy="6858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852160" y="12344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Parkolóhelyek Böngészése</a:t>
            </a:r>
            <a:endParaRPr lang="en-US" sz="13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1828800"/>
            <a:ext cx="201168" cy="20116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126480" y="18013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Szabad helyek valós időben</a:t>
            </a:r>
            <a:endParaRPr lang="en-US" sz="10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2121408"/>
            <a:ext cx="201168" cy="20116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126480" y="209397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 és távolság szűrő</a:t>
            </a:r>
            <a:endParaRPr lang="en-US" sz="10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2414016"/>
            <a:ext cx="201168" cy="201168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6126480" y="23865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Részletes helyszín adatok</a:t>
            </a:r>
            <a:endParaRPr lang="en-US" sz="1000" dirty="0"/>
          </a:p>
        </p:txBody>
      </p:sp>
      <p:sp>
        <p:nvSpPr>
          <p:cNvPr id="26" name="Shape 16"/>
          <p:cNvSpPr/>
          <p:nvPr/>
        </p:nvSpPr>
        <p:spPr>
          <a:xfrm>
            <a:off x="274320" y="3017520"/>
            <a:ext cx="4251960" cy="1691640"/>
          </a:xfrm>
          <a:prstGeom prst="rect">
            <a:avLst/>
          </a:prstGeom>
          <a:solidFill>
            <a:srgbClr val="142237"/>
          </a:solidFill>
          <a:ln w="12700">
            <a:solidFill>
              <a:srgbClr val="7C3AED">
                <a:alpha val="5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7" name="Shape 17"/>
          <p:cNvSpPr/>
          <p:nvPr/>
        </p:nvSpPr>
        <p:spPr>
          <a:xfrm>
            <a:off x="274320" y="3017520"/>
            <a:ext cx="42519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8" name="Shape 18"/>
          <p:cNvSpPr/>
          <p:nvPr/>
        </p:nvSpPr>
        <p:spPr>
          <a:xfrm>
            <a:off x="365760" y="3136392"/>
            <a:ext cx="777240" cy="777240"/>
          </a:xfrm>
          <a:prstGeom prst="ellipse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3182112"/>
            <a:ext cx="685800" cy="68580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1280160" y="315468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Foglalás</a:t>
            </a: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&amp; </a:t>
            </a:r>
            <a:r>
              <a:rPr lang="en-US" sz="13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Fizetés</a:t>
            </a:r>
            <a:endParaRPr lang="en-US" sz="1300" dirty="0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3749040"/>
            <a:ext cx="201168" cy="201168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1554480" y="37216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Időpont alapú foglalás</a:t>
            </a:r>
            <a:endParaRPr lang="en-US" sz="1000" dirty="0"/>
          </a:p>
        </p:txBody>
      </p:sp>
      <p:pic>
        <p:nvPicPr>
          <p:cNvPr id="33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4041648"/>
            <a:ext cx="201168" cy="201168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1554480" y="401421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Díjszámítás automatikusan</a:t>
            </a:r>
            <a:endParaRPr lang="en-US" sz="1000" dirty="0"/>
          </a:p>
        </p:txBody>
      </p:sp>
      <p:pic>
        <p:nvPicPr>
          <p:cNvPr id="35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4334256"/>
            <a:ext cx="201168" cy="201168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1554480" y="43068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Foglalás törlése/módosítása</a:t>
            </a:r>
            <a:endParaRPr lang="en-US" sz="1000" dirty="0"/>
          </a:p>
        </p:txBody>
      </p:sp>
      <p:sp>
        <p:nvSpPr>
          <p:cNvPr id="37" name="Shape 23"/>
          <p:cNvSpPr/>
          <p:nvPr/>
        </p:nvSpPr>
        <p:spPr>
          <a:xfrm>
            <a:off x="4846320" y="3017520"/>
            <a:ext cx="4251960" cy="1691640"/>
          </a:xfrm>
          <a:prstGeom prst="rect">
            <a:avLst/>
          </a:prstGeom>
          <a:solidFill>
            <a:srgbClr val="142237"/>
          </a:solidFill>
          <a:ln w="12700">
            <a:solidFill>
              <a:srgbClr val="EA580C">
                <a:alpha val="5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38" name="Shape 24"/>
          <p:cNvSpPr/>
          <p:nvPr/>
        </p:nvSpPr>
        <p:spPr>
          <a:xfrm>
            <a:off x="4846320" y="3017520"/>
            <a:ext cx="425196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9" name="Shape 25"/>
          <p:cNvSpPr/>
          <p:nvPr/>
        </p:nvSpPr>
        <p:spPr>
          <a:xfrm>
            <a:off x="4937760" y="3136392"/>
            <a:ext cx="777240" cy="777240"/>
          </a:xfrm>
          <a:prstGeom prst="ellipse">
            <a:avLst/>
          </a:prstGeom>
          <a:solidFill>
            <a:srgbClr val="EA580C">
              <a:alpha val="80000"/>
            </a:srgbClr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40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3480" y="3182112"/>
            <a:ext cx="685800" cy="685800"/>
          </a:xfrm>
          <a:prstGeom prst="rect">
            <a:avLst/>
          </a:prstGeom>
        </p:spPr>
      </p:pic>
      <p:sp>
        <p:nvSpPr>
          <p:cNvPr id="41" name="Text 26"/>
          <p:cNvSpPr/>
          <p:nvPr/>
        </p:nvSpPr>
        <p:spPr>
          <a:xfrm>
            <a:off x="5852160" y="315468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Admin Vezérlőpult</a:t>
            </a:r>
            <a:endParaRPr lang="en-US" sz="1300" dirty="0"/>
          </a:p>
        </p:txBody>
      </p:sp>
      <p:pic>
        <p:nvPicPr>
          <p:cNvPr id="42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3749040"/>
            <a:ext cx="201168" cy="201168"/>
          </a:xfrm>
          <a:prstGeom prst="rect">
            <a:avLst/>
          </a:prstGeom>
        </p:spPr>
      </p:pic>
      <p:sp>
        <p:nvSpPr>
          <p:cNvPr id="43" name="Text 27"/>
          <p:cNvSpPr/>
          <p:nvPr/>
        </p:nvSpPr>
        <p:spPr>
          <a:xfrm>
            <a:off x="6126480" y="37216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Felhasználók kezelése</a:t>
            </a:r>
            <a:endParaRPr lang="en-US" sz="1000" dirty="0"/>
          </a:p>
        </p:txBody>
      </p:sp>
      <p:pic>
        <p:nvPicPr>
          <p:cNvPr id="44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4041648"/>
            <a:ext cx="201168" cy="201168"/>
          </a:xfrm>
          <a:prstGeom prst="rect">
            <a:avLst/>
          </a:prstGeom>
        </p:spPr>
      </p:pic>
      <p:sp>
        <p:nvSpPr>
          <p:cNvPr id="45" name="Text 28"/>
          <p:cNvSpPr/>
          <p:nvPr/>
        </p:nvSpPr>
        <p:spPr>
          <a:xfrm>
            <a:off x="6126480" y="401421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Parkolási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statisztikák</a:t>
            </a:r>
            <a:endParaRPr lang="en-US" sz="1000" dirty="0"/>
          </a:p>
        </p:txBody>
      </p:sp>
      <p:pic>
        <p:nvPicPr>
          <p:cNvPr id="46" name="Image 1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4334256"/>
            <a:ext cx="201168" cy="201168"/>
          </a:xfrm>
          <a:prstGeom prst="rect">
            <a:avLst/>
          </a:prstGeom>
        </p:spPr>
      </p:pic>
      <p:sp>
        <p:nvSpPr>
          <p:cNvPr id="47" name="Text 29"/>
          <p:cNvSpPr/>
          <p:nvPr/>
        </p:nvSpPr>
        <p:spPr>
          <a:xfrm>
            <a:off x="6126480" y="43068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5B461465-8531-1891-7311-B32F76740C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983"/>
          <a:stretch>
            <a:fillRect/>
          </a:stretch>
        </p:blipFill>
        <p:spPr>
          <a:xfrm>
            <a:off x="156753" y="857676"/>
            <a:ext cx="8837024" cy="4194384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AFF2D50A-A540-0AE1-2EFD-7A3C83A97752}"/>
              </a:ext>
            </a:extLst>
          </p:cNvPr>
          <p:cNvSpPr/>
          <p:nvPr/>
        </p:nvSpPr>
        <p:spPr>
          <a:xfrm>
            <a:off x="235131" y="5431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3600" b="1" dirty="0">
                <a:solidFill>
                  <a:srgbClr val="FFFFFF"/>
                </a:solidFill>
                <a:latin typeface="Arial Black" pitchFamily="34" charset="0"/>
              </a:rPr>
              <a:t>Adatbázis teljes szerkezete</a:t>
            </a:r>
            <a:endParaRPr lang="en-US" sz="3600" dirty="0"/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D43F0183-3B15-36E8-668D-4FDA8A9919E3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66559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Adatbázis Struktúra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Relációs MySQL adatbázis – főbb táblák és kapcsolataik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2743200" cy="4114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274320" y="1280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2743200" cy="338328"/>
          </a:xfrm>
          <a:prstGeom prst="rect">
            <a:avLst/>
          </a:prstGeom>
          <a:solidFill>
            <a:srgbClr val="142237"/>
          </a:solidFill>
          <a:ln w="12700">
            <a:solidFill>
              <a:srgbClr val="1A56D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/>
          <p:cNvSpPr/>
          <p:nvPr/>
        </p:nvSpPr>
        <p:spPr>
          <a:xfrm>
            <a:off x="411480" y="1691640"/>
            <a:ext cx="2468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(PK)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039112"/>
            <a:ext cx="2743200" cy="338328"/>
          </a:xfrm>
          <a:prstGeom prst="rect">
            <a:avLst/>
          </a:prstGeom>
          <a:solidFill>
            <a:srgbClr val="1E3A5F"/>
          </a:solidFill>
          <a:ln w="12700">
            <a:solidFill>
              <a:srgbClr val="1A56D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" name="Text 8"/>
          <p:cNvSpPr/>
          <p:nvPr/>
        </p:nvSpPr>
        <p:spPr>
          <a:xfrm>
            <a:off x="411480" y="2039112"/>
            <a:ext cx="2468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386584"/>
            <a:ext cx="2743200" cy="338328"/>
          </a:xfrm>
          <a:prstGeom prst="rect">
            <a:avLst/>
          </a:prstGeom>
          <a:solidFill>
            <a:srgbClr val="142237"/>
          </a:solidFill>
          <a:ln w="12700">
            <a:solidFill>
              <a:srgbClr val="1A56D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2" name="Text 10"/>
          <p:cNvSpPr/>
          <p:nvPr/>
        </p:nvSpPr>
        <p:spPr>
          <a:xfrm>
            <a:off x="411480" y="2386584"/>
            <a:ext cx="2468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734056"/>
            <a:ext cx="2743200" cy="338328"/>
          </a:xfrm>
          <a:prstGeom prst="rect">
            <a:avLst/>
          </a:prstGeom>
          <a:solidFill>
            <a:srgbClr val="1E3A5F"/>
          </a:solidFill>
          <a:ln w="12700">
            <a:solidFill>
              <a:srgbClr val="1A56D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" name="Text 12"/>
          <p:cNvSpPr/>
          <p:nvPr/>
        </p:nvSpPr>
        <p:spPr>
          <a:xfrm>
            <a:off x="411480" y="2734056"/>
            <a:ext cx="2468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081528"/>
            <a:ext cx="2743200" cy="338328"/>
          </a:xfrm>
          <a:prstGeom prst="rect">
            <a:avLst/>
          </a:prstGeom>
          <a:solidFill>
            <a:srgbClr val="142237"/>
          </a:solidFill>
          <a:ln w="12700">
            <a:solidFill>
              <a:srgbClr val="1A56D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6" name="Text 14"/>
          <p:cNvSpPr/>
          <p:nvPr/>
        </p:nvSpPr>
        <p:spPr>
          <a:xfrm>
            <a:off x="411480" y="3081528"/>
            <a:ext cx="2468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429000"/>
            <a:ext cx="2743200" cy="338328"/>
          </a:xfrm>
          <a:prstGeom prst="rect">
            <a:avLst/>
          </a:prstGeom>
          <a:solidFill>
            <a:srgbClr val="1E3A5F"/>
          </a:solidFill>
          <a:ln w="12700">
            <a:solidFill>
              <a:srgbClr val="1A56D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8" name="Text 16"/>
          <p:cNvSpPr/>
          <p:nvPr/>
        </p:nvSpPr>
        <p:spPr>
          <a:xfrm>
            <a:off x="411480" y="3429000"/>
            <a:ext cx="2468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46120" y="1280160"/>
            <a:ext cx="27432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0" name="Text 18"/>
          <p:cNvSpPr/>
          <p:nvPr/>
        </p:nvSpPr>
        <p:spPr>
          <a:xfrm>
            <a:off x="3246120" y="1280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parking_lots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46120" y="1691640"/>
            <a:ext cx="2743200" cy="338328"/>
          </a:xfrm>
          <a:prstGeom prst="rect">
            <a:avLst/>
          </a:prstGeom>
          <a:solidFill>
            <a:srgbClr val="142237"/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2" name="Text 20"/>
          <p:cNvSpPr/>
          <p:nvPr/>
        </p:nvSpPr>
        <p:spPr>
          <a:xfrm>
            <a:off x="3383280" y="1691640"/>
            <a:ext cx="2468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(PK)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46120" y="2039112"/>
            <a:ext cx="2743200" cy="338328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4" name="Text 22"/>
          <p:cNvSpPr/>
          <p:nvPr/>
        </p:nvSpPr>
        <p:spPr>
          <a:xfrm>
            <a:off x="3383280" y="2039112"/>
            <a:ext cx="2468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46120" y="2386584"/>
            <a:ext cx="2743200" cy="338328"/>
          </a:xfrm>
          <a:prstGeom prst="rect">
            <a:avLst/>
          </a:prstGeom>
          <a:solidFill>
            <a:srgbClr val="142237"/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6" name="Text 24"/>
          <p:cNvSpPr/>
          <p:nvPr/>
        </p:nvSpPr>
        <p:spPr>
          <a:xfrm>
            <a:off x="3383280" y="2386584"/>
            <a:ext cx="2468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address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46120" y="2734056"/>
            <a:ext cx="2743200" cy="338328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8" name="Text 26"/>
          <p:cNvSpPr/>
          <p:nvPr/>
        </p:nvSpPr>
        <p:spPr>
          <a:xfrm>
            <a:off x="3383280" y="2734056"/>
            <a:ext cx="2468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capacity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46120" y="3081528"/>
            <a:ext cx="2743200" cy="338328"/>
          </a:xfrm>
          <a:prstGeom prst="rect">
            <a:avLst/>
          </a:prstGeom>
          <a:solidFill>
            <a:srgbClr val="142237"/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0" name="Text 28"/>
          <p:cNvSpPr/>
          <p:nvPr/>
        </p:nvSpPr>
        <p:spPr>
          <a:xfrm>
            <a:off x="3383280" y="3081528"/>
            <a:ext cx="2468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price/h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46120" y="3429000"/>
            <a:ext cx="2743200" cy="338328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2" name="Text 30"/>
          <p:cNvSpPr/>
          <p:nvPr/>
        </p:nvSpPr>
        <p:spPr>
          <a:xfrm>
            <a:off x="3383280" y="3429000"/>
            <a:ext cx="2468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17920" y="1280160"/>
            <a:ext cx="274320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4" name="Text 32"/>
          <p:cNvSpPr/>
          <p:nvPr/>
        </p:nvSpPr>
        <p:spPr>
          <a:xfrm>
            <a:off x="6217920" y="1280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reservations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217920" y="1691640"/>
            <a:ext cx="2743200" cy="338328"/>
          </a:xfrm>
          <a:prstGeom prst="rect">
            <a:avLst/>
          </a:prstGeom>
          <a:solidFill>
            <a:srgbClr val="142237"/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6" name="Text 34"/>
          <p:cNvSpPr/>
          <p:nvPr/>
        </p:nvSpPr>
        <p:spPr>
          <a:xfrm>
            <a:off x="6355080" y="1691640"/>
            <a:ext cx="2468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(PK)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17920" y="2039112"/>
            <a:ext cx="2743200" cy="338328"/>
          </a:xfrm>
          <a:prstGeom prst="rect">
            <a:avLst/>
          </a:prstGeom>
          <a:solidFill>
            <a:srgbClr val="1E3A5F"/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8" name="Text 36"/>
          <p:cNvSpPr/>
          <p:nvPr/>
        </p:nvSpPr>
        <p:spPr>
          <a:xfrm>
            <a:off x="6355080" y="2039112"/>
            <a:ext cx="2468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 (FK)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17920" y="2386584"/>
            <a:ext cx="2743200" cy="338328"/>
          </a:xfrm>
          <a:prstGeom prst="rect">
            <a:avLst/>
          </a:prstGeom>
          <a:solidFill>
            <a:srgbClr val="142237"/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0" name="Text 38"/>
          <p:cNvSpPr/>
          <p:nvPr/>
        </p:nvSpPr>
        <p:spPr>
          <a:xfrm>
            <a:off x="6355080" y="2386584"/>
            <a:ext cx="2468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lot_id (FK)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17920" y="2734056"/>
            <a:ext cx="2743200" cy="338328"/>
          </a:xfrm>
          <a:prstGeom prst="rect">
            <a:avLst/>
          </a:prstGeom>
          <a:solidFill>
            <a:srgbClr val="1E3A5F"/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2" name="Text 40"/>
          <p:cNvSpPr/>
          <p:nvPr/>
        </p:nvSpPr>
        <p:spPr>
          <a:xfrm>
            <a:off x="6355080" y="2734056"/>
            <a:ext cx="2468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start_time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17920" y="3081528"/>
            <a:ext cx="2743200" cy="338328"/>
          </a:xfrm>
          <a:prstGeom prst="rect">
            <a:avLst/>
          </a:prstGeom>
          <a:solidFill>
            <a:srgbClr val="142237"/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4" name="Text 42"/>
          <p:cNvSpPr/>
          <p:nvPr/>
        </p:nvSpPr>
        <p:spPr>
          <a:xfrm>
            <a:off x="6355080" y="3081528"/>
            <a:ext cx="2468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end_time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217920" y="3429000"/>
            <a:ext cx="2743200" cy="338328"/>
          </a:xfrm>
          <a:prstGeom prst="rect">
            <a:avLst/>
          </a:prstGeom>
          <a:solidFill>
            <a:srgbClr val="1E3A5F"/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6" name="Text 44"/>
          <p:cNvSpPr/>
          <p:nvPr/>
        </p:nvSpPr>
        <p:spPr>
          <a:xfrm>
            <a:off x="6355080" y="3429000"/>
            <a:ext cx="2468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total_fee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017520" y="2377440"/>
            <a:ext cx="228600" cy="731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8" name="Shape 46"/>
          <p:cNvSpPr/>
          <p:nvPr/>
        </p:nvSpPr>
        <p:spPr>
          <a:xfrm>
            <a:off x="5989320" y="2377440"/>
            <a:ext cx="228600" cy="731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9" name="Shape 47"/>
          <p:cNvSpPr/>
          <p:nvPr/>
        </p:nvSpPr>
        <p:spPr>
          <a:xfrm>
            <a:off x="274320" y="4572000"/>
            <a:ext cx="137160" cy="13716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0" name="Text 48"/>
          <p:cNvSpPr/>
          <p:nvPr/>
        </p:nvSpPr>
        <p:spPr>
          <a:xfrm>
            <a:off x="502920" y="45445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= Elsődleges kulcs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200400" y="4572000"/>
            <a:ext cx="137160" cy="1371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2" name="Text 50"/>
          <p:cNvSpPr/>
          <p:nvPr/>
        </p:nvSpPr>
        <p:spPr>
          <a:xfrm>
            <a:off x="3429000" y="454456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= Idegen kulcs (kapcsolat)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8BE378-777F-D76C-3795-DFB1502F8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7B10832-7830-654A-3D61-57F6E97E0427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607D84A-E58F-AFA9-F419-BAC7392679D9}"/>
              </a:ext>
            </a:extLst>
          </p:cNvPr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36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Admin</a:t>
            </a:r>
            <a:r>
              <a:rPr lang="hu-HU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felület bemutatása	</a:t>
            </a:r>
            <a:endParaRPr lang="en-US" sz="3600" dirty="0"/>
          </a:p>
        </p:txBody>
      </p:sp>
      <p:pic>
        <p:nvPicPr>
          <p:cNvPr id="29" name="Kép 28">
            <a:extLst>
              <a:ext uri="{FF2B5EF4-FFF2-40B4-BE49-F238E27FC236}">
                <a16:creationId xmlns:a16="http://schemas.microsoft.com/office/drawing/2014/main" id="{6604322D-714B-FD3B-445E-084E6679A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744" y="868680"/>
            <a:ext cx="8243431" cy="3900487"/>
          </a:xfrm>
          <a:prstGeom prst="rect">
            <a:avLst/>
          </a:prstGeom>
          <a:solidFill>
            <a:srgbClr val="FFFFFF">
              <a:shade val="85000"/>
            </a:srgbClr>
          </a:solidFill>
          <a:ln w="571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119840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1A56DB">
              <a:alpha val="15000"/>
            </a:srgbClr>
          </a:solidFill>
          <a:ln w="12700">
            <a:solidFill>
              <a:srgbClr val="1A56D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Összefoglalás</a:t>
            </a:r>
            <a:endParaRPr lang="en-US" sz="40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28016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25272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Teljes körű parkolókezelő webalkalmazás elkészítése</a:t>
            </a:r>
            <a:endParaRPr lang="en-US" sz="1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47088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819656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Biztonságos admin felület vezérlőpulttal és statisztikákkal</a:t>
            </a:r>
            <a:endParaRPr lang="en-US" sz="14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414016"/>
            <a:ext cx="347472" cy="3474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17320" y="2386584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adatbázis tervezés és megvalósítás</a:t>
            </a:r>
            <a:endParaRPr lang="en-US" sz="1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980944"/>
            <a:ext cx="347472" cy="34747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17320" y="295351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Reszponzív, modern felhasználói felület kialakítása</a:t>
            </a:r>
            <a:endParaRPr lang="en-US" sz="14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547872"/>
            <a:ext cx="347472" cy="34747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417320" y="35204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Felhasználókezelés, foglalás és díjszámítás implementálása</a:t>
            </a:r>
            <a:endParaRPr lang="en-US" sz="1400" dirty="0"/>
          </a:p>
        </p:txBody>
      </p:sp>
      <p:sp>
        <p:nvSpPr>
          <p:cNvPr id="17" name="Shape 10"/>
          <p:cNvSpPr/>
          <p:nvPr/>
        </p:nvSpPr>
        <p:spPr>
          <a:xfrm>
            <a:off x="457200" y="4206240"/>
            <a:ext cx="8229600" cy="685800"/>
          </a:xfrm>
          <a:prstGeom prst="rect">
            <a:avLst/>
          </a:prstGeom>
          <a:solidFill>
            <a:srgbClr val="1A56DB">
              <a:alpha val="80000"/>
            </a:srgbClr>
          </a:solidFill>
          <a:ln w="12700">
            <a:solidFill>
              <a:srgbClr val="60A5FA">
                <a:alpha val="7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8" name="Text 11"/>
          <p:cNvSpPr/>
          <p:nvPr/>
        </p:nvSpPr>
        <p:spPr>
          <a:xfrm>
            <a:off x="457200" y="42062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Köszönjük a figyelmet!  🅿 ProParking – Okos Parkolás a Jövőért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352</Words>
  <Application>Microsoft Office PowerPoint</Application>
  <PresentationFormat>Diavetítés a képernyőre (16:9 oldalarány)</PresentationFormat>
  <Paragraphs>103</Paragraphs>
  <Slides>9</Slides>
  <Notes>7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9</vt:i4>
      </vt:variant>
    </vt:vector>
  </HeadingPairs>
  <TitlesOfParts>
    <vt:vector size="15" baseType="lpstr">
      <vt:lpstr>Aptos</vt:lpstr>
      <vt:lpstr>Arial</vt:lpstr>
      <vt:lpstr>Arial Black</vt:lpstr>
      <vt:lpstr>Calibri</vt:lpstr>
      <vt:lpstr>Consolas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ProParking – Okos Parkolórendszer</dc:title>
  <dc:subject>PptxGenJS Presentation</dc:subject>
  <dc:creator>PptxGenJS</dc:creator>
  <cp:lastModifiedBy>Lenhardt Károly</cp:lastModifiedBy>
  <cp:revision>34</cp:revision>
  <dcterms:created xsi:type="dcterms:W3CDTF">2026-05-12T11:45:19Z</dcterms:created>
  <dcterms:modified xsi:type="dcterms:W3CDTF">2026-05-19T09:13:49Z</dcterms:modified>
</cp:coreProperties>
</file>