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2" r:id="rId5"/>
    <p:sldId id="269" r:id="rId6"/>
    <p:sldId id="261" r:id="rId7"/>
    <p:sldId id="268" r:id="rId8"/>
    <p:sldId id="266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806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7143-53F3-433D-D151-C0E89C596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0244B-D371-2960-D3CD-C1EF90076E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D66FA-FAFF-3EBC-E166-E01816066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A06377-DE87-DEEA-C58D-FD4530CEBB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582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A56DB">
              <a:alpha val="20000"/>
            </a:srgbClr>
          </a:solidFill>
          <a:ln w="12700">
            <a:solidFill>
              <a:srgbClr val="1A56D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B82F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73152"/>
            <a:ext cx="9144000" cy="36576"/>
          </a:xfrm>
          <a:prstGeom prst="rect">
            <a:avLst/>
          </a:prstGeom>
          <a:solidFill>
            <a:srgbClr val="60A5FA">
              <a:alpha val="60000"/>
            </a:srgbClr>
          </a:solidFill>
          <a:ln w="12700">
            <a:solidFill>
              <a:srgbClr val="60A5F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457200" y="365760"/>
            <a:ext cx="640080" cy="6400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3840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ProParking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Okos Parkolórendszer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Informatikai Projekt – Szakmai Vizsga Bemutató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5720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45720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Webalkalmazás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6032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1"/>
          <p:cNvSpPr/>
          <p:nvPr/>
        </p:nvSpPr>
        <p:spPr>
          <a:xfrm>
            <a:off x="256032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Felület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6344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466344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Hardveres kihívás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76656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5"/>
          <p:cNvSpPr/>
          <p:nvPr/>
        </p:nvSpPr>
        <p:spPr>
          <a:xfrm>
            <a:off x="676656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r>
              <a:rPr lang="hu-HU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Szakmai Vizsga  ·  Informatika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</a:rPr>
              <a:t>Miért pont ez a projekt?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projekt motivációja és célkitűzései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508760"/>
            <a:ext cx="2651760" cy="310896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26517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1188720" y="1691640"/>
            <a:ext cx="914400" cy="91440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180136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Elavult megoldások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11480" y="32461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hagyományos parkolórendszerek nem nyújtanak valós idejű adatokat, sok az emberi hiba és az átláthatatlan adminisztráció.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00400" y="1508760"/>
            <a:ext cx="2651760" cy="310896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12" name="Shape 9"/>
          <p:cNvSpPr/>
          <p:nvPr/>
        </p:nvSpPr>
        <p:spPr>
          <a:xfrm>
            <a:off x="3200400" y="1508760"/>
            <a:ext cx="26517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0"/>
          <p:cNvSpPr/>
          <p:nvPr/>
        </p:nvSpPr>
        <p:spPr>
          <a:xfrm>
            <a:off x="4069080" y="1691640"/>
            <a:ext cx="914400" cy="91440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808" y="1801368"/>
            <a:ext cx="68580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200400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Hatékonyság igénye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291840" y="32461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Célunk a cégekkel való együttműködés lehető legmagasabb szinten.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80760" y="1508760"/>
            <a:ext cx="2651760" cy="310896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4"/>
          <p:cNvSpPr/>
          <p:nvPr/>
        </p:nvSpPr>
        <p:spPr>
          <a:xfrm>
            <a:off x="6080760" y="1508760"/>
            <a:ext cx="26517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5"/>
          <p:cNvSpPr/>
          <p:nvPr/>
        </p:nvSpPr>
        <p:spPr>
          <a:xfrm>
            <a:off x="6949440" y="1691640"/>
            <a:ext cx="914400" cy="91440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9168" y="1801368"/>
            <a:ext cx="685800" cy="6858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80760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Informatikai kihívás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172200" y="32461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 webalkalmazást akartunk fejleszteni – adatbázissal, admin felülettel, felhasználókezeléssel</a:t>
            </a:r>
            <a:r>
              <a:rPr lang="hu-HU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illetve szerettünk volna megvalósítani egy hardveres kihívást is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Felhasznált Technológiák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E34F26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743200" cy="64008"/>
          </a:xfrm>
          <a:prstGeom prst="rect">
            <a:avLst/>
          </a:prstGeom>
          <a:solidFill>
            <a:srgbClr val="E34F26"/>
          </a:solidFill>
          <a:ln w="12700">
            <a:solidFill>
              <a:srgbClr val="E34F2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" cy="822960"/>
          </a:xfrm>
          <a:prstGeom prst="ellipse">
            <a:avLst/>
          </a:prstGeom>
          <a:solidFill>
            <a:srgbClr val="E34F26">
              <a:alpha val="80000"/>
            </a:srgbClr>
          </a:solidFill>
          <a:ln w="12700">
            <a:solidFill>
              <a:srgbClr val="E34F2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7160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2984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HTML5 / CSS3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Strukturált, reszponzív frontend kialakítás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11887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F7DF1E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3246120" y="1188720"/>
            <a:ext cx="2743200" cy="64008"/>
          </a:xfrm>
          <a:prstGeom prst="rect">
            <a:avLst/>
          </a:prstGeom>
          <a:solidFill>
            <a:srgbClr val="F7DF1E"/>
          </a:solidFill>
          <a:ln w="1270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Shape 9"/>
          <p:cNvSpPr/>
          <p:nvPr/>
        </p:nvSpPr>
        <p:spPr>
          <a:xfrm>
            <a:off x="3383280" y="1325880"/>
            <a:ext cx="822960" cy="822960"/>
          </a:xfrm>
          <a:prstGeom prst="ellipse">
            <a:avLst/>
          </a:prstGeom>
          <a:solidFill>
            <a:srgbClr val="F7DF1E">
              <a:alpha val="80000"/>
            </a:srgbClr>
          </a:solidFill>
          <a:ln w="1270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371600"/>
            <a:ext cx="731520" cy="731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12984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JavaScript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3756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Dinamikus felhasználói felület, AJAX kérések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72200" y="11887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777BB4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3"/>
          <p:cNvSpPr/>
          <p:nvPr/>
        </p:nvSpPr>
        <p:spPr>
          <a:xfrm>
            <a:off x="6172200" y="1188720"/>
            <a:ext cx="2743200" cy="64008"/>
          </a:xfrm>
          <a:prstGeom prst="rect">
            <a:avLst/>
          </a:prstGeom>
          <a:solidFill>
            <a:srgbClr val="777BB4"/>
          </a:solidFill>
          <a:ln w="12700">
            <a:solidFill>
              <a:srgbClr val="777BB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4"/>
          <p:cNvSpPr/>
          <p:nvPr/>
        </p:nvSpPr>
        <p:spPr>
          <a:xfrm>
            <a:off x="6309360" y="1325880"/>
            <a:ext cx="822960" cy="822960"/>
          </a:xfrm>
          <a:prstGeom prst="ellipse">
            <a:avLst/>
          </a:prstGeom>
          <a:solidFill>
            <a:srgbClr val="777BB4">
              <a:alpha val="80000"/>
            </a:srgbClr>
          </a:solidFill>
          <a:ln w="12700">
            <a:solidFill>
              <a:srgbClr val="777BB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371600"/>
            <a:ext cx="731520" cy="7315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223760" y="12984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PHP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6364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oldali logika, session kezelés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320040" y="30175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4479A1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18"/>
          <p:cNvSpPr/>
          <p:nvPr/>
        </p:nvSpPr>
        <p:spPr>
          <a:xfrm>
            <a:off x="320040" y="3017520"/>
            <a:ext cx="2743200" cy="64008"/>
          </a:xfrm>
          <a:prstGeom prst="rect">
            <a:avLst/>
          </a:prstGeom>
          <a:solidFill>
            <a:srgbClr val="4479A1"/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Shape 19"/>
          <p:cNvSpPr/>
          <p:nvPr/>
        </p:nvSpPr>
        <p:spPr>
          <a:xfrm>
            <a:off x="457200" y="3154680"/>
            <a:ext cx="822960" cy="822960"/>
          </a:xfrm>
          <a:prstGeom prst="ellipse">
            <a:avLst/>
          </a:prstGeom>
          <a:solidFill>
            <a:srgbClr val="4479A1">
              <a:alpha val="80000"/>
            </a:srgbClr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200400"/>
            <a:ext cx="731520" cy="7315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371600" y="3127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MySQL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41148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Relációs adatbázis, optimalizált lekérdezések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6172200" y="30175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D22128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5" name="Shape 28"/>
          <p:cNvSpPr/>
          <p:nvPr/>
        </p:nvSpPr>
        <p:spPr>
          <a:xfrm>
            <a:off x="6172200" y="3017520"/>
            <a:ext cx="2743200" cy="64008"/>
          </a:xfrm>
          <a:prstGeom prst="rect">
            <a:avLst/>
          </a:prstGeom>
          <a:solidFill>
            <a:srgbClr val="D22128"/>
          </a:solidFill>
          <a:ln w="12700">
            <a:solidFill>
              <a:srgbClr val="D221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Shape 29"/>
          <p:cNvSpPr/>
          <p:nvPr/>
        </p:nvSpPr>
        <p:spPr>
          <a:xfrm>
            <a:off x="6309360" y="3154680"/>
            <a:ext cx="822960" cy="822960"/>
          </a:xfrm>
          <a:prstGeom prst="ellipse">
            <a:avLst/>
          </a:prstGeom>
          <a:solidFill>
            <a:srgbClr val="D22128">
              <a:alpha val="80000"/>
            </a:srgbClr>
          </a:solidFill>
          <a:ln w="12700">
            <a:solidFill>
              <a:srgbClr val="D221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3200400"/>
            <a:ext cx="731520" cy="7315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223760" y="3127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Micro Python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626364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Hardveres rész működtetése.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Főbb Funkciók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251960" cy="169164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2519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365760" y="1216152"/>
            <a:ext cx="777240" cy="777240"/>
          </a:xfrm>
          <a:prstGeom prst="ellipse">
            <a:avLst/>
          </a:prstGeom>
          <a:solidFill>
            <a:srgbClr val="1A56DB">
              <a:alpha val="80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61872"/>
            <a:ext cx="685800" cy="685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2344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Regisztráció &amp; Bejelentkezés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82880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1801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Biztonságos jelszó hashelés</a:t>
            </a:r>
            <a:endParaRPr lang="en-US" sz="10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121408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554480" y="2093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alapú autentikáció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41401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5448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hozzáférés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4846320" y="1097280"/>
            <a:ext cx="4251960" cy="1691640"/>
          </a:xfrm>
          <a:prstGeom prst="rect">
            <a:avLst/>
          </a:prstGeom>
          <a:solidFill>
            <a:srgbClr val="142237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0"/>
          <p:cNvSpPr/>
          <p:nvPr/>
        </p:nvSpPr>
        <p:spPr>
          <a:xfrm>
            <a:off x="4846320" y="1097280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1"/>
          <p:cNvSpPr/>
          <p:nvPr/>
        </p:nvSpPr>
        <p:spPr>
          <a:xfrm>
            <a:off x="4937760" y="1216152"/>
            <a:ext cx="777240" cy="777240"/>
          </a:xfrm>
          <a:prstGeom prst="ellipse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261872"/>
            <a:ext cx="685800" cy="6858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852160" y="12344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Parkolóhelyek Böngészése</a:t>
            </a:r>
            <a:endParaRPr lang="en-US" sz="13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82880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126480" y="1801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Szabad helyek valós időben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121408"/>
            <a:ext cx="201168" cy="20116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126480" y="2093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 és távolság szűrő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414016"/>
            <a:ext cx="201168" cy="20116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12648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Részletes helyszín adatok</a:t>
            </a:r>
            <a:endParaRPr lang="en-US" sz="1000" dirty="0"/>
          </a:p>
        </p:txBody>
      </p:sp>
      <p:sp>
        <p:nvSpPr>
          <p:cNvPr id="26" name="Shape 16"/>
          <p:cNvSpPr/>
          <p:nvPr/>
        </p:nvSpPr>
        <p:spPr>
          <a:xfrm>
            <a:off x="274320" y="3017520"/>
            <a:ext cx="4251960" cy="1691640"/>
          </a:xfrm>
          <a:prstGeom prst="rect">
            <a:avLst/>
          </a:prstGeom>
          <a:solidFill>
            <a:srgbClr val="142237"/>
          </a:solidFill>
          <a:ln w="12700">
            <a:solidFill>
              <a:srgbClr val="7C3AED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7" name="Shape 17"/>
          <p:cNvSpPr/>
          <p:nvPr/>
        </p:nvSpPr>
        <p:spPr>
          <a:xfrm>
            <a:off x="274320" y="3017520"/>
            <a:ext cx="425196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Shape 18"/>
          <p:cNvSpPr/>
          <p:nvPr/>
        </p:nvSpPr>
        <p:spPr>
          <a:xfrm>
            <a:off x="365760" y="3136392"/>
            <a:ext cx="777240" cy="777240"/>
          </a:xfrm>
          <a:prstGeom prst="ellipse">
            <a:avLst/>
          </a:prstGeom>
          <a:solidFill>
            <a:srgbClr val="7C3AED">
              <a:alpha val="8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182112"/>
            <a:ext cx="685800" cy="68580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1280160" y="3154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Foglalás &amp; Fizetés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3749040"/>
            <a:ext cx="201168" cy="20116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1554480" y="37216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Időpont alapú foglalás</a:t>
            </a:r>
            <a:endParaRPr lang="en-US" sz="1000" dirty="0"/>
          </a:p>
        </p:txBody>
      </p:sp>
      <p:pic>
        <p:nvPicPr>
          <p:cNvPr id="3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41648"/>
            <a:ext cx="201168" cy="201168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1554480" y="4014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Díjszámítás automatikusan</a:t>
            </a:r>
            <a:endParaRPr lang="en-US" sz="1000" dirty="0"/>
          </a:p>
        </p:txBody>
      </p:sp>
      <p:pic>
        <p:nvPicPr>
          <p:cNvPr id="35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334256"/>
            <a:ext cx="201168" cy="201168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1554480" y="4306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Foglalás törlése/módosítása</a:t>
            </a:r>
            <a:endParaRPr lang="en-US" sz="1000" dirty="0"/>
          </a:p>
        </p:txBody>
      </p:sp>
      <p:sp>
        <p:nvSpPr>
          <p:cNvPr id="37" name="Shape 23"/>
          <p:cNvSpPr/>
          <p:nvPr/>
        </p:nvSpPr>
        <p:spPr>
          <a:xfrm>
            <a:off x="4846320" y="3017520"/>
            <a:ext cx="4251960" cy="1691640"/>
          </a:xfrm>
          <a:prstGeom prst="rect">
            <a:avLst/>
          </a:prstGeom>
          <a:solidFill>
            <a:srgbClr val="142237"/>
          </a:solidFill>
          <a:ln w="12700">
            <a:solidFill>
              <a:srgbClr val="EA580C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8" name="Shape 24"/>
          <p:cNvSpPr/>
          <p:nvPr/>
        </p:nvSpPr>
        <p:spPr>
          <a:xfrm>
            <a:off x="4846320" y="3017520"/>
            <a:ext cx="425196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9" name="Shape 25"/>
          <p:cNvSpPr/>
          <p:nvPr/>
        </p:nvSpPr>
        <p:spPr>
          <a:xfrm>
            <a:off x="4937760" y="3136392"/>
            <a:ext cx="777240" cy="777240"/>
          </a:xfrm>
          <a:prstGeom prst="ellipse">
            <a:avLst/>
          </a:prstGeom>
          <a:solidFill>
            <a:srgbClr val="EA580C">
              <a:alpha val="80000"/>
            </a:srgbClr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3182112"/>
            <a:ext cx="685800" cy="685800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5852160" y="3154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 Vezérlőpult</a:t>
            </a:r>
            <a:endParaRPr lang="en-US" sz="13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749040"/>
            <a:ext cx="201168" cy="201168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6126480" y="37216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 kezelése</a:t>
            </a:r>
            <a:endParaRPr lang="en-US" sz="1000" dirty="0"/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4041648"/>
            <a:ext cx="201168" cy="201168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6126480" y="4014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Bevételi statisztikák</a:t>
            </a:r>
            <a:endParaRPr lang="en-US" sz="1000" dirty="0"/>
          </a:p>
        </p:txBody>
      </p:sp>
      <p:pic>
        <p:nvPicPr>
          <p:cNvPr id="46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4334256"/>
            <a:ext cx="201168" cy="201168"/>
          </a:xfrm>
          <a:prstGeom prst="rect">
            <a:avLst/>
          </a:prstGeom>
        </p:spPr>
      </p:pic>
      <p:sp>
        <p:nvSpPr>
          <p:cNvPr id="47" name="Text 29"/>
          <p:cNvSpPr/>
          <p:nvPr/>
        </p:nvSpPr>
        <p:spPr>
          <a:xfrm>
            <a:off x="6126480" y="4306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Parkolók hozzáadása/szerkesztése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B461465-8531-1891-7311-B32F76740C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983"/>
          <a:stretch>
            <a:fillRect/>
          </a:stretch>
        </p:blipFill>
        <p:spPr>
          <a:xfrm>
            <a:off x="156753" y="857676"/>
            <a:ext cx="8837024" cy="419438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FF2D50A-A540-0AE1-2EFD-7A3C83A97752}"/>
              </a:ext>
            </a:extLst>
          </p:cNvPr>
          <p:cNvSpPr/>
          <p:nvPr/>
        </p:nvSpPr>
        <p:spPr>
          <a:xfrm>
            <a:off x="235131" y="5431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</a:rPr>
              <a:t>Adatbázisunk teljes szerkezete</a:t>
            </a:r>
            <a:endParaRPr lang="en-US" sz="3600" dirty="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D43F0183-3B15-36E8-668D-4FDA8A9919E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6559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Adatbázis Struktúra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Relációs MySQL adatbázis – főbb táblák és kapcsolataik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2743200" cy="411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11480" y="1691640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(PK)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039112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11480" y="2039112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386584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11480" y="2386584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734056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11480" y="2734056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081528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11480" y="3081528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1A56DB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411480" y="3429000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1280160"/>
            <a:ext cx="274320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3246120" y="1280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parking_lots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46120" y="1691640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3383280" y="1691640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(PK)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039112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3383280" y="2039112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2386584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3383280" y="2386584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46120" y="2734056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3383280" y="2734056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46120" y="3081528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3383280" y="3081528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price/h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46120" y="3429000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3383280" y="3429000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1280160"/>
            <a:ext cx="274320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6217920" y="1280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reservations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17920" y="1691640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6355080" y="1691640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(PK)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2039112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6"/>
          <p:cNvSpPr/>
          <p:nvPr/>
        </p:nvSpPr>
        <p:spPr>
          <a:xfrm>
            <a:off x="6355080" y="2039112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 (FK)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386584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0" name="Text 38"/>
          <p:cNvSpPr/>
          <p:nvPr/>
        </p:nvSpPr>
        <p:spPr>
          <a:xfrm>
            <a:off x="6355080" y="2386584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lot_id (FK)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2734056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2" name="Text 40"/>
          <p:cNvSpPr/>
          <p:nvPr/>
        </p:nvSpPr>
        <p:spPr>
          <a:xfrm>
            <a:off x="6355080" y="2734056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start_time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17920" y="3081528"/>
            <a:ext cx="2743200" cy="338328"/>
          </a:xfrm>
          <a:prstGeom prst="rect">
            <a:avLst/>
          </a:prstGeom>
          <a:solidFill>
            <a:srgbClr val="142237"/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4" name="Text 42"/>
          <p:cNvSpPr/>
          <p:nvPr/>
        </p:nvSpPr>
        <p:spPr>
          <a:xfrm>
            <a:off x="6355080" y="3081528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end_time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17920" y="3429000"/>
            <a:ext cx="2743200" cy="338328"/>
          </a:xfrm>
          <a:prstGeom prst="rect">
            <a:avLst/>
          </a:prstGeom>
          <a:solidFill>
            <a:srgbClr val="1E3A5F"/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6" name="Text 44"/>
          <p:cNvSpPr/>
          <p:nvPr/>
        </p:nvSpPr>
        <p:spPr>
          <a:xfrm>
            <a:off x="6355080" y="3429000"/>
            <a:ext cx="2468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total_fee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17520" y="2377440"/>
            <a:ext cx="228600" cy="731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8" name="Shape 46"/>
          <p:cNvSpPr/>
          <p:nvPr/>
        </p:nvSpPr>
        <p:spPr>
          <a:xfrm>
            <a:off x="5989320" y="2377440"/>
            <a:ext cx="228600" cy="731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9" name="Shape 47"/>
          <p:cNvSpPr/>
          <p:nvPr/>
        </p:nvSpPr>
        <p:spPr>
          <a:xfrm>
            <a:off x="274320" y="4572000"/>
            <a:ext cx="137160" cy="1371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0" name="Text 48"/>
          <p:cNvSpPr/>
          <p:nvPr/>
        </p:nvSpPr>
        <p:spPr>
          <a:xfrm>
            <a:off x="502920" y="45445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= Elsődleges kulcs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00400" y="4572000"/>
            <a:ext cx="137160" cy="1371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2" name="Text 50"/>
          <p:cNvSpPr/>
          <p:nvPr/>
        </p:nvSpPr>
        <p:spPr>
          <a:xfrm>
            <a:off x="3429000" y="45445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= Idegen kulcs (kapcsolat)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BE378-777F-D76C-3795-DFB1502F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7B10832-7830-654A-3D61-57F6E97E0427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607D84A-E58F-AFA9-F419-BAC7392679D9}"/>
              </a:ext>
            </a:extLst>
          </p:cNvPr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felület bemutatása	</a:t>
            </a:r>
            <a:endParaRPr lang="en-US" sz="3600" dirty="0"/>
          </a:p>
        </p:txBody>
      </p:sp>
      <p:pic>
        <p:nvPicPr>
          <p:cNvPr id="29" name="Kép 28">
            <a:extLst>
              <a:ext uri="{FF2B5EF4-FFF2-40B4-BE49-F238E27FC236}">
                <a16:creationId xmlns:a16="http://schemas.microsoft.com/office/drawing/2014/main" id="{6604322D-714B-FD3B-445E-084E6679A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744" y="868680"/>
            <a:ext cx="8243431" cy="3900487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19840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A56DB">
              <a:alpha val="15000"/>
            </a:srgbClr>
          </a:solidFill>
          <a:ln w="12700">
            <a:solidFill>
              <a:srgbClr val="1A56D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Összefoglalás</a:t>
            </a:r>
            <a:endParaRPr lang="en-US" sz="40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25272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 körű parkolókezelő webalkalmazás elkészítése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4708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1965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Biztonságos admin felület vezérlőpulttal és statisztikákkal</a:t>
            </a:r>
            <a:endParaRPr lang="en-US" sz="14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14016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23865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adatbázis tervezés és megvalósítás</a:t>
            </a:r>
            <a:endParaRPr lang="en-US" sz="1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980944"/>
            <a:ext cx="347472" cy="34747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17320" y="295351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Reszponzív, modern felhasználói felület kialakítása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547872"/>
            <a:ext cx="347472" cy="34747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17320" y="3520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Felhasználókezelés, foglalás és díjszámítás implementálása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solidFill>
            <a:srgbClr val="1A56DB">
              <a:alpha val="80000"/>
            </a:srgbClr>
          </a:solidFill>
          <a:ln w="12700">
            <a:solidFill>
              <a:srgbClr val="60A5FA">
                <a:alpha val="7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Text 11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Köszönjük a figyelmet!  🅿 ProParking – Okos Parkolás a Jövőért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298</Words>
  <Application>Microsoft Office PowerPoint</Application>
  <PresentationFormat>Diavetítés a képernyőre (16:9 oldalarány)</PresentationFormat>
  <Paragraphs>85</Paragraphs>
  <Slides>8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Arial</vt:lpstr>
      <vt:lpstr>Arial Black</vt:lpstr>
      <vt:lpstr>Calibri</vt:lpstr>
      <vt:lpstr>Consolas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ProParking – Okos Parkolórendszer</dc:title>
  <dc:subject>PptxGenJS Presentation</dc:subject>
  <dc:creator>PptxGenJS</dc:creator>
  <cp:lastModifiedBy>O365 felhasználó</cp:lastModifiedBy>
  <cp:revision>17</cp:revision>
  <dcterms:created xsi:type="dcterms:W3CDTF">2026-05-12T11:45:19Z</dcterms:created>
  <dcterms:modified xsi:type="dcterms:W3CDTF">2026-05-18T18:02:09Z</dcterms:modified>
</cp:coreProperties>
</file>