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9" r:id="rId4"/>
    <p:sldId id="272" r:id="rId5"/>
    <p:sldId id="273" r:id="rId6"/>
    <p:sldId id="274" r:id="rId7"/>
    <p:sldId id="275" r:id="rId8"/>
    <p:sldId id="276" r:id="rId9"/>
    <p:sldId id="262" r:id="rId10"/>
    <p:sldId id="279" r:id="rId11"/>
    <p:sldId id="280" r:id="rId12"/>
    <p:sldId id="283" r:id="rId13"/>
    <p:sldId id="281" r:id="rId14"/>
    <p:sldId id="282" r:id="rId15"/>
    <p:sldId id="271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172A"/>
    <a:srgbClr val="0A1628"/>
    <a:srgbClr val="FCFC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28063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B41D2-6AED-5F35-925E-51BD65076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BAB71B-D732-6A2F-6E17-249E68EAC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C882CB-2B68-DDAA-1966-ED2037A56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1DDAC3-11A2-CF1E-A0E0-0FD6EE5D5C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8951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14382-6AAA-2E4E-2CF0-EEA3667DD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E3BDC9-780E-7ABF-6F65-7C229DF3E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243FC-8CDD-4E60-A1AB-30681DD82F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7E0E3D-70FA-ACF3-CDE9-1F4E969927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0969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F00DE-9075-B48A-49B7-A00CC7119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4A343-3656-DF78-AE03-7628FE73F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87AF35-08CC-26D4-1774-256ABCB64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951E8A-19EE-C46B-79DF-2BC1222A59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3400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AFA2C-1A50-85EC-7B3A-3742AFF87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ACE03E-1871-2E3F-020B-F640A51B11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A320A0-1B22-ABF0-9788-90E129005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7E465-3ED3-210E-F66D-1D5545B2D5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8456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93407-4FF0-DF6A-491A-6D5F70CF7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242BFA-990E-C070-6E59-AE0649302E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458E79-B847-53D8-06D9-3CCEBF15C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FCC5C1-28FD-13A9-9735-75AEDA85CD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3635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99E38-EE8B-78CC-3188-04E5E6E79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CDC339-ED8F-19F2-91F5-894ED3147B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327D17-640F-455B-4495-0C2601D01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B85CF7-3377-8943-57B5-D8673339BA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0984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1A56DB">
              <a:alpha val="20000"/>
            </a:srgbClr>
          </a:solidFill>
          <a:ln w="12700">
            <a:solidFill>
              <a:srgbClr val="1A56D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7772400" y="0"/>
            <a:ext cx="1371600" cy="5143500"/>
          </a:xfrm>
          <a:prstGeom prst="rect">
            <a:avLst/>
          </a:prstGeom>
          <a:solidFill>
            <a:srgbClr val="3B82F6">
              <a:alpha val="25000"/>
            </a:srgbClr>
          </a:solidFill>
          <a:ln w="12700">
            <a:solidFill>
              <a:srgbClr val="3B82F6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73152"/>
            <a:ext cx="9144000" cy="36576"/>
          </a:xfrm>
          <a:prstGeom prst="rect">
            <a:avLst/>
          </a:prstGeom>
          <a:solidFill>
            <a:srgbClr val="60A5FA">
              <a:alpha val="60000"/>
            </a:srgbClr>
          </a:solidFill>
          <a:ln w="12700">
            <a:solidFill>
              <a:srgbClr val="60A5F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457200" y="365760"/>
            <a:ext cx="640080" cy="6400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1148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38404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ProParking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Okos Parkolórendszer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Informatikai Projekt – Szakmai Vizsga Bemutató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57200" y="347472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1A56DB">
              <a:alpha val="70000"/>
            </a:srgbClr>
          </a:solidFill>
          <a:ln w="12700">
            <a:solidFill>
              <a:srgbClr val="60A5FA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9"/>
          <p:cNvSpPr/>
          <p:nvPr/>
        </p:nvSpPr>
        <p:spPr>
          <a:xfrm>
            <a:off x="457200" y="349300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Webalkalmazás</a:t>
            </a:r>
            <a:endParaRPr lang="hu-HU" sz="1100" b="1" dirty="0">
              <a:solidFill>
                <a:srgbClr val="60A5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hu-HU" sz="10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Webapplication</a:t>
            </a:r>
            <a:endParaRPr lang="en-US" sz="1100" i="1" dirty="0">
              <a:solidFill>
                <a:schemeClr val="bg1"/>
              </a:solidFill>
            </a:endParaRPr>
          </a:p>
        </p:txBody>
      </p:sp>
      <p:sp>
        <p:nvSpPr>
          <p:cNvPr id="13" name="Shape 10"/>
          <p:cNvSpPr/>
          <p:nvPr/>
        </p:nvSpPr>
        <p:spPr>
          <a:xfrm>
            <a:off x="2560320" y="347472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1A56DB">
              <a:alpha val="70000"/>
            </a:srgbClr>
          </a:solidFill>
          <a:ln w="12700">
            <a:solidFill>
              <a:srgbClr val="60A5FA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1"/>
          <p:cNvSpPr/>
          <p:nvPr/>
        </p:nvSpPr>
        <p:spPr>
          <a:xfrm>
            <a:off x="2560320" y="349300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</a:t>
            </a:r>
            <a:r>
              <a:rPr lang="en-US" sz="1100" b="1" dirty="0" err="1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Felület</a:t>
            </a:r>
            <a:endParaRPr lang="hu-HU" sz="1100" b="1" dirty="0">
              <a:solidFill>
                <a:srgbClr val="60A5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r>
              <a:rPr lang="en-US" sz="10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</a:t>
            </a:r>
            <a:r>
              <a:rPr lang="hu-HU" sz="10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</a:t>
            </a:r>
            <a:endParaRPr lang="en-US" sz="1000" i="1" dirty="0">
              <a:solidFill>
                <a:schemeClr val="bg1"/>
              </a:solidFill>
            </a:endParaRPr>
          </a:p>
        </p:txBody>
      </p:sp>
      <p:sp>
        <p:nvSpPr>
          <p:cNvPr id="15" name="Shape 12"/>
          <p:cNvSpPr/>
          <p:nvPr/>
        </p:nvSpPr>
        <p:spPr>
          <a:xfrm>
            <a:off x="4663440" y="347472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1A56DB">
              <a:alpha val="70000"/>
            </a:srgbClr>
          </a:solidFill>
          <a:ln w="12700">
            <a:solidFill>
              <a:srgbClr val="60A5FA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3"/>
          <p:cNvSpPr/>
          <p:nvPr/>
        </p:nvSpPr>
        <p:spPr>
          <a:xfrm>
            <a:off x="4663440" y="349300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11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Hardveres kihívás</a:t>
            </a:r>
          </a:p>
          <a:p>
            <a:pPr algn="ctr"/>
            <a:r>
              <a:rPr lang="hu-HU" sz="1000" b="1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</a:t>
            </a:r>
            <a:r>
              <a:rPr lang="hu-HU" sz="10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challange</a:t>
            </a:r>
            <a:endParaRPr lang="en-US" sz="1000" i="1" dirty="0">
              <a:solidFill>
                <a:schemeClr val="bg1"/>
              </a:solidFill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766560" y="3474720"/>
            <a:ext cx="1920240" cy="411480"/>
          </a:xfrm>
          <a:prstGeom prst="roundRect">
            <a:avLst>
              <a:gd name="adj" fmla="val 11111"/>
            </a:avLst>
          </a:prstGeom>
          <a:solidFill>
            <a:srgbClr val="1A56DB">
              <a:alpha val="70000"/>
            </a:srgbClr>
          </a:solidFill>
          <a:ln w="12700">
            <a:solidFill>
              <a:srgbClr val="60A5FA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5"/>
          <p:cNvSpPr/>
          <p:nvPr/>
        </p:nvSpPr>
        <p:spPr>
          <a:xfrm>
            <a:off x="6766560" y="349300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Adatbázis</a:t>
            </a:r>
            <a:endParaRPr lang="hu-HU" sz="1100" b="1" dirty="0">
              <a:solidFill>
                <a:srgbClr val="60A5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r>
              <a:rPr lang="hu-HU" sz="1000" b="1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i="1" dirty="0">
              <a:solidFill>
                <a:schemeClr val="bg1"/>
              </a:solidFill>
            </a:endParaRPr>
          </a:p>
        </p:txBody>
      </p:sp>
      <p:sp>
        <p:nvSpPr>
          <p:cNvPr id="19" name="Shape 1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0" name="Text 1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</a:t>
            </a:r>
            <a:r>
              <a:rPr lang="hu-HU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Szakmai Vizsga  ·  Informatika</a:t>
            </a:r>
            <a:endParaRPr lang="en-US" sz="110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597D5FC3-2DA8-4A9D-7102-3786F65C4B27}"/>
              </a:ext>
            </a:extLst>
          </p:cNvPr>
          <p:cNvSpPr/>
          <p:nvPr/>
        </p:nvSpPr>
        <p:spPr>
          <a:xfrm>
            <a:off x="457200" y="1926771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2400" b="1" i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Smart</a:t>
            </a:r>
            <a:r>
              <a:rPr lang="hu-HU" sz="2400" b="1" i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Parking System</a:t>
            </a:r>
            <a:endParaRPr lang="en-US" sz="2400" i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600" b="1" dirty="0">
                <a:solidFill>
                  <a:srgbClr val="FFFFFF"/>
                </a:solidFill>
                <a:latin typeface="Arial Black" pitchFamily="34" charset="0"/>
              </a:rPr>
              <a:t>Miért pont ez a projekt?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projekt motivációja és célkitűzései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1508760"/>
            <a:ext cx="2651760" cy="3108960"/>
          </a:xfrm>
          <a:prstGeom prst="rect">
            <a:avLst/>
          </a:prstGeom>
          <a:solidFill>
            <a:srgbClr val="142237"/>
          </a:solidFill>
          <a:ln w="12700">
            <a:solidFill>
              <a:srgbClr val="1A56DB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320040" y="1508760"/>
            <a:ext cx="2651760" cy="54864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1188720" y="1691640"/>
            <a:ext cx="914400" cy="914400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448" y="1801368"/>
            <a:ext cx="685800" cy="685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20040" y="27432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Elavult megoldások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11480" y="324612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hagyományos parkolórendszerek nem nyújtanak valós idejű adatokat, sok az emberi hiba és az átláthatatlan adminisztráció.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00400" y="1508760"/>
            <a:ext cx="2651760" cy="3108960"/>
          </a:xfrm>
          <a:prstGeom prst="rect">
            <a:avLst/>
          </a:prstGeom>
          <a:solidFill>
            <a:srgbClr val="142237"/>
          </a:solidFill>
          <a:ln w="12700">
            <a:solidFill>
              <a:srgbClr val="1A56DB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 dirty="0"/>
          </a:p>
        </p:txBody>
      </p:sp>
      <p:sp>
        <p:nvSpPr>
          <p:cNvPr id="12" name="Shape 9"/>
          <p:cNvSpPr/>
          <p:nvPr/>
        </p:nvSpPr>
        <p:spPr>
          <a:xfrm>
            <a:off x="3200400" y="1508760"/>
            <a:ext cx="2651760" cy="54864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Shape 10"/>
          <p:cNvSpPr/>
          <p:nvPr/>
        </p:nvSpPr>
        <p:spPr>
          <a:xfrm>
            <a:off x="4069080" y="1691640"/>
            <a:ext cx="914400" cy="914400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8808" y="1801368"/>
            <a:ext cx="685800" cy="6858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200400" y="27432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Hatékonyság igénye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291840" y="324612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Célunk a cégekkel való együttműködés lehető legmagasabb szinten.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080760" y="1508760"/>
            <a:ext cx="2651760" cy="3108960"/>
          </a:xfrm>
          <a:prstGeom prst="rect">
            <a:avLst/>
          </a:prstGeom>
          <a:solidFill>
            <a:srgbClr val="142237"/>
          </a:solidFill>
          <a:ln w="12700">
            <a:solidFill>
              <a:srgbClr val="1A56DB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4"/>
          <p:cNvSpPr/>
          <p:nvPr/>
        </p:nvSpPr>
        <p:spPr>
          <a:xfrm>
            <a:off x="6080760" y="1508760"/>
            <a:ext cx="2651760" cy="54864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Shape 15"/>
          <p:cNvSpPr/>
          <p:nvPr/>
        </p:nvSpPr>
        <p:spPr>
          <a:xfrm>
            <a:off x="6949440" y="1691640"/>
            <a:ext cx="914400" cy="914400"/>
          </a:xfrm>
          <a:prstGeom prst="ellipse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9168" y="1801368"/>
            <a:ext cx="685800" cy="6858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80760" y="27432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Informatikai kihívás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172200" y="324612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Valós webalkalmazást akartunk fejleszteni – adatbázissal, admin felülettel, felhasználókezeléssel</a:t>
            </a:r>
            <a:r>
              <a:rPr lang="hu-HU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illetve szerettünk volna megvalósítani egy hardveres kihívást is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Felhasznált</a:t>
            </a: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hu-HU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Programnyelvek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2743200" cy="1554480"/>
          </a:xfrm>
          <a:prstGeom prst="rect">
            <a:avLst/>
          </a:prstGeom>
          <a:solidFill>
            <a:srgbClr val="142237"/>
          </a:solidFill>
          <a:ln w="12700">
            <a:solidFill>
              <a:srgbClr val="E34F26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2743200" cy="64008"/>
          </a:xfrm>
          <a:prstGeom prst="rect">
            <a:avLst/>
          </a:prstGeom>
          <a:solidFill>
            <a:srgbClr val="E34F26"/>
          </a:solidFill>
          <a:ln w="12700">
            <a:solidFill>
              <a:srgbClr val="E34F2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" cy="822960"/>
          </a:xfrm>
          <a:prstGeom prst="ellipse">
            <a:avLst/>
          </a:prstGeom>
          <a:solidFill>
            <a:srgbClr val="E34F26">
              <a:alpha val="80000"/>
            </a:srgbClr>
          </a:solidFill>
          <a:ln w="12700">
            <a:solidFill>
              <a:srgbClr val="E34F2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71600"/>
            <a:ext cx="731520" cy="731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12984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HTML5 / CSS3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" y="2148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Strukturált, reszponzív frontend kialakítás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46120" y="1188720"/>
            <a:ext cx="2743200" cy="1554480"/>
          </a:xfrm>
          <a:prstGeom prst="rect">
            <a:avLst/>
          </a:prstGeom>
          <a:solidFill>
            <a:srgbClr val="142237"/>
          </a:solidFill>
          <a:ln w="12700">
            <a:solidFill>
              <a:srgbClr val="F7DF1E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/>
          <p:cNvSpPr/>
          <p:nvPr/>
        </p:nvSpPr>
        <p:spPr>
          <a:xfrm>
            <a:off x="3246120" y="1188720"/>
            <a:ext cx="2743200" cy="64008"/>
          </a:xfrm>
          <a:prstGeom prst="rect">
            <a:avLst/>
          </a:prstGeom>
          <a:solidFill>
            <a:srgbClr val="F7DF1E"/>
          </a:solidFill>
          <a:ln w="12700">
            <a:solidFill>
              <a:srgbClr val="F7DF1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Shape 9"/>
          <p:cNvSpPr/>
          <p:nvPr/>
        </p:nvSpPr>
        <p:spPr>
          <a:xfrm>
            <a:off x="3383280" y="1325880"/>
            <a:ext cx="822960" cy="822960"/>
          </a:xfrm>
          <a:prstGeom prst="ellipse">
            <a:avLst/>
          </a:prstGeom>
          <a:solidFill>
            <a:srgbClr val="F7DF1E">
              <a:alpha val="80000"/>
            </a:srgbClr>
          </a:solidFill>
          <a:ln w="12700">
            <a:solidFill>
              <a:srgbClr val="F7DF1E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1371600"/>
            <a:ext cx="731520" cy="7315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97680" y="12984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JavaScript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337560" y="2148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Dinamikus felhasználói felület, AJAX kérések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72200" y="1188720"/>
            <a:ext cx="2743200" cy="1554480"/>
          </a:xfrm>
          <a:prstGeom prst="rect">
            <a:avLst/>
          </a:prstGeom>
          <a:solidFill>
            <a:srgbClr val="142237"/>
          </a:solidFill>
          <a:ln w="12700">
            <a:solidFill>
              <a:srgbClr val="777BB4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7" name="Shape 13"/>
          <p:cNvSpPr/>
          <p:nvPr/>
        </p:nvSpPr>
        <p:spPr>
          <a:xfrm>
            <a:off x="6172200" y="1188720"/>
            <a:ext cx="2743200" cy="64008"/>
          </a:xfrm>
          <a:prstGeom prst="rect">
            <a:avLst/>
          </a:prstGeom>
          <a:solidFill>
            <a:srgbClr val="777BB4"/>
          </a:solidFill>
          <a:ln w="12700">
            <a:solidFill>
              <a:srgbClr val="777BB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4"/>
          <p:cNvSpPr/>
          <p:nvPr/>
        </p:nvSpPr>
        <p:spPr>
          <a:xfrm>
            <a:off x="6309360" y="1325880"/>
            <a:ext cx="822960" cy="822960"/>
          </a:xfrm>
          <a:prstGeom prst="ellipse">
            <a:avLst/>
          </a:prstGeom>
          <a:solidFill>
            <a:srgbClr val="777BB4">
              <a:alpha val="80000"/>
            </a:srgbClr>
          </a:solidFill>
          <a:ln w="12700">
            <a:solidFill>
              <a:srgbClr val="777BB4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371600"/>
            <a:ext cx="731520" cy="7315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223760" y="12984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PHP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263640" y="2148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Szerver oldali logika, session kezelés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320040" y="3017520"/>
            <a:ext cx="2743200" cy="1554480"/>
          </a:xfrm>
          <a:prstGeom prst="rect">
            <a:avLst/>
          </a:prstGeom>
          <a:solidFill>
            <a:srgbClr val="142237"/>
          </a:solidFill>
          <a:ln w="12700">
            <a:solidFill>
              <a:srgbClr val="4479A1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18"/>
          <p:cNvSpPr/>
          <p:nvPr/>
        </p:nvSpPr>
        <p:spPr>
          <a:xfrm>
            <a:off x="320040" y="3017520"/>
            <a:ext cx="2743200" cy="64008"/>
          </a:xfrm>
          <a:prstGeom prst="rect">
            <a:avLst/>
          </a:prstGeom>
          <a:solidFill>
            <a:srgbClr val="4479A1"/>
          </a:solidFill>
          <a:ln w="12700">
            <a:solidFill>
              <a:srgbClr val="4479A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Shape 19"/>
          <p:cNvSpPr/>
          <p:nvPr/>
        </p:nvSpPr>
        <p:spPr>
          <a:xfrm>
            <a:off x="457200" y="3154680"/>
            <a:ext cx="822960" cy="822960"/>
          </a:xfrm>
          <a:prstGeom prst="ellipse">
            <a:avLst/>
          </a:prstGeom>
          <a:solidFill>
            <a:srgbClr val="4479A1">
              <a:alpha val="80000"/>
            </a:srgbClr>
          </a:solidFill>
          <a:ln w="12700">
            <a:solidFill>
              <a:srgbClr val="4479A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200400"/>
            <a:ext cx="731520" cy="7315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371600" y="31272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MySQL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411480" y="3977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Relációs adatbázis, optimalizált lekérdezések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6172200" y="3017520"/>
            <a:ext cx="2743200" cy="1554480"/>
          </a:xfrm>
          <a:prstGeom prst="rect">
            <a:avLst/>
          </a:prstGeom>
          <a:solidFill>
            <a:srgbClr val="142237"/>
          </a:solidFill>
          <a:ln w="12700">
            <a:solidFill>
              <a:srgbClr val="D22128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5" name="Shape 28"/>
          <p:cNvSpPr/>
          <p:nvPr/>
        </p:nvSpPr>
        <p:spPr>
          <a:xfrm>
            <a:off x="6172200" y="3017520"/>
            <a:ext cx="2743200" cy="64008"/>
          </a:xfrm>
          <a:prstGeom prst="rect">
            <a:avLst/>
          </a:prstGeom>
          <a:solidFill>
            <a:srgbClr val="D22128"/>
          </a:solidFill>
          <a:ln w="12700">
            <a:solidFill>
              <a:srgbClr val="D221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6" name="Shape 29"/>
          <p:cNvSpPr/>
          <p:nvPr/>
        </p:nvSpPr>
        <p:spPr>
          <a:xfrm>
            <a:off x="6309360" y="3154680"/>
            <a:ext cx="822960" cy="822960"/>
          </a:xfrm>
          <a:prstGeom prst="ellipse">
            <a:avLst/>
          </a:prstGeom>
          <a:solidFill>
            <a:srgbClr val="D22128">
              <a:alpha val="80000"/>
            </a:srgbClr>
          </a:solidFill>
          <a:ln w="12700">
            <a:solidFill>
              <a:srgbClr val="D221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8" name="Text 30"/>
          <p:cNvSpPr/>
          <p:nvPr/>
        </p:nvSpPr>
        <p:spPr>
          <a:xfrm>
            <a:off x="7223760" y="31272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MicroPython</a:t>
            </a:r>
            <a:endParaRPr lang="en-US" sz="1300" dirty="0"/>
          </a:p>
        </p:txBody>
      </p:sp>
      <p:sp>
        <p:nvSpPr>
          <p:cNvPr id="39" name="Text 31"/>
          <p:cNvSpPr/>
          <p:nvPr/>
        </p:nvSpPr>
        <p:spPr>
          <a:xfrm>
            <a:off x="6263640" y="3977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Hardveres rész működtetése.</a:t>
            </a:r>
            <a:endParaRPr lang="en-US" sz="1000" dirty="0"/>
          </a:p>
        </p:txBody>
      </p:sp>
      <p:pic>
        <p:nvPicPr>
          <p:cNvPr id="29" name="Ábra 28" descr="Felhőalapú informatika egyszínű kitöltéssel">
            <a:extLst>
              <a:ext uri="{FF2B5EF4-FFF2-40B4-BE49-F238E27FC236}">
                <a16:creationId xmlns:a16="http://schemas.microsoft.com/office/drawing/2014/main" id="{E1A1F2D5-E9BC-B7C7-38C7-E667A76DD7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55080" y="3219994"/>
            <a:ext cx="711926" cy="71192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5B461465-8531-1891-7311-B32F76740C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983"/>
          <a:stretch>
            <a:fillRect/>
          </a:stretch>
        </p:blipFill>
        <p:spPr>
          <a:xfrm>
            <a:off x="156753" y="857676"/>
            <a:ext cx="8837024" cy="419438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AFF2D50A-A540-0AE1-2EFD-7A3C83A97752}"/>
              </a:ext>
            </a:extLst>
          </p:cNvPr>
          <p:cNvSpPr/>
          <p:nvPr/>
        </p:nvSpPr>
        <p:spPr>
          <a:xfrm>
            <a:off x="235131" y="5431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600" b="1" dirty="0">
                <a:solidFill>
                  <a:srgbClr val="FFFFFF"/>
                </a:solidFill>
                <a:latin typeface="Arial Black" pitchFamily="34" charset="0"/>
              </a:rPr>
              <a:t>Adatbázis teljes szerkezete</a:t>
            </a:r>
            <a:endParaRPr lang="en-US" sz="3600" dirty="0"/>
          </a:p>
        </p:txBody>
      </p:sp>
      <p:sp>
        <p:nvSpPr>
          <p:cNvPr id="5" name="Shape 0">
            <a:extLst>
              <a:ext uri="{FF2B5EF4-FFF2-40B4-BE49-F238E27FC236}">
                <a16:creationId xmlns:a16="http://schemas.microsoft.com/office/drawing/2014/main" id="{D43F0183-3B15-36E8-668D-4FDA8A9919E3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503763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26B73-81B6-1365-31BC-4337F177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CBFB17DD-8749-B809-1770-DA225A6D6E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983"/>
          <a:stretch>
            <a:fillRect/>
          </a:stretch>
        </p:blipFill>
        <p:spPr>
          <a:xfrm>
            <a:off x="-1104900" y="-711200"/>
            <a:ext cx="16210424" cy="7694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9722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90060-7071-19C0-BE76-F234CB317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86E21DF9-88C1-844E-9F52-1EA05709DD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983"/>
          <a:stretch>
            <a:fillRect/>
          </a:stretch>
        </p:blipFill>
        <p:spPr>
          <a:xfrm>
            <a:off x="-2524763" y="1248454"/>
            <a:ext cx="20696648" cy="9823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0528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4F48F-2184-F06D-A9CA-DE0CFD839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53B74647-E61A-E94B-0D74-E8AD2C90F1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983"/>
          <a:stretch>
            <a:fillRect/>
          </a:stretch>
        </p:blipFill>
        <p:spPr>
          <a:xfrm>
            <a:off x="-6752048" y="1669143"/>
            <a:ext cx="19109650" cy="9070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7196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4DAE6-AA33-9B3B-6F4F-1E226D2CA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63E0543D-B843-9066-B5B9-A71BE0F971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983"/>
          <a:stretch>
            <a:fillRect/>
          </a:stretch>
        </p:blipFill>
        <p:spPr>
          <a:xfrm>
            <a:off x="1956523" y="-4746171"/>
            <a:ext cx="19109650" cy="9070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3198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Főbb Funkciók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251960" cy="1691640"/>
          </a:xfrm>
          <a:prstGeom prst="rect">
            <a:avLst/>
          </a:prstGeom>
          <a:solidFill>
            <a:srgbClr val="142237"/>
          </a:solidFill>
          <a:ln w="12700">
            <a:solidFill>
              <a:srgbClr val="1A56DB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251960" cy="54864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365760" y="1216152"/>
            <a:ext cx="777240" cy="777240"/>
          </a:xfrm>
          <a:prstGeom prst="ellipse">
            <a:avLst/>
          </a:prstGeom>
          <a:solidFill>
            <a:srgbClr val="1A56DB">
              <a:alpha val="80000"/>
            </a:srgbClr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61872"/>
            <a:ext cx="685800" cy="685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2344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Regisztráció &amp; Bejelentkezés</a:t>
            </a:r>
            <a:endParaRPr lang="en-US" sz="13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182880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18013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Biztonságos jelszó hashelés</a:t>
            </a:r>
            <a:endParaRPr lang="en-US" sz="10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2121408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554480" y="2093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alapú autentikáció</a:t>
            </a:r>
            <a:endParaRPr lang="en-US" sz="10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2414016"/>
            <a:ext cx="201168" cy="20116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54480" y="23865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Szerepkör alapú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hozzáférés</a:t>
            </a:r>
            <a:endParaRPr lang="en-US" sz="1000" dirty="0"/>
          </a:p>
        </p:txBody>
      </p:sp>
      <p:sp>
        <p:nvSpPr>
          <p:cNvPr id="15" name="Shape 9"/>
          <p:cNvSpPr/>
          <p:nvPr/>
        </p:nvSpPr>
        <p:spPr>
          <a:xfrm>
            <a:off x="4787540" y="1097280"/>
            <a:ext cx="4251960" cy="1691640"/>
          </a:xfrm>
          <a:prstGeom prst="rect">
            <a:avLst/>
          </a:prstGeom>
          <a:solidFill>
            <a:srgbClr val="142237"/>
          </a:solidFill>
          <a:ln w="12700">
            <a:solidFill>
              <a:srgbClr val="0D9488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Shape 10"/>
          <p:cNvSpPr/>
          <p:nvPr/>
        </p:nvSpPr>
        <p:spPr>
          <a:xfrm>
            <a:off x="4787540" y="1097280"/>
            <a:ext cx="42519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Shape 11"/>
          <p:cNvSpPr/>
          <p:nvPr/>
        </p:nvSpPr>
        <p:spPr>
          <a:xfrm>
            <a:off x="4878980" y="1216152"/>
            <a:ext cx="777240" cy="777240"/>
          </a:xfrm>
          <a:prstGeom prst="ellipse">
            <a:avLst/>
          </a:prstGeom>
          <a:solidFill>
            <a:srgbClr val="0D9488">
              <a:alpha val="80000"/>
            </a:srgbClr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4700" y="1261872"/>
            <a:ext cx="685800" cy="6858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793380" y="12344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Parkolóhelyek</a:t>
            </a: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hu-HU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Eltárolása</a:t>
            </a:r>
            <a:endParaRPr lang="en-US" sz="13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3380" y="1828800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067700" y="18013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Cégenkénti</a:t>
            </a:r>
            <a:r>
              <a:rPr lang="hu-HU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parkolóhely menedzselés</a:t>
            </a:r>
            <a:endParaRPr lang="en-US" sz="100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3380" y="2121408"/>
            <a:ext cx="201168" cy="201168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067700" y="2093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Becenév beállítása</a:t>
            </a:r>
            <a:endParaRPr lang="en-US" sz="100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3380" y="2414016"/>
            <a:ext cx="201168" cy="20116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6067700" y="23865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Egyedi parkolóhely sorszám megadása</a:t>
            </a:r>
            <a:endParaRPr lang="en-US" sz="1000" dirty="0"/>
          </a:p>
        </p:txBody>
      </p:sp>
      <p:sp>
        <p:nvSpPr>
          <p:cNvPr id="37" name="Shape 23"/>
          <p:cNvSpPr/>
          <p:nvPr/>
        </p:nvSpPr>
        <p:spPr>
          <a:xfrm>
            <a:off x="2299071" y="3017520"/>
            <a:ext cx="4251960" cy="1691640"/>
          </a:xfrm>
          <a:prstGeom prst="rect">
            <a:avLst/>
          </a:prstGeom>
          <a:solidFill>
            <a:srgbClr val="142237"/>
          </a:solidFill>
          <a:ln w="12700">
            <a:solidFill>
              <a:srgbClr val="EA580C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8" name="Shape 24"/>
          <p:cNvSpPr/>
          <p:nvPr/>
        </p:nvSpPr>
        <p:spPr>
          <a:xfrm>
            <a:off x="2299071" y="3017520"/>
            <a:ext cx="4251960" cy="54864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9" name="Shape 25"/>
          <p:cNvSpPr/>
          <p:nvPr/>
        </p:nvSpPr>
        <p:spPr>
          <a:xfrm>
            <a:off x="2390511" y="3136392"/>
            <a:ext cx="777240" cy="777240"/>
          </a:xfrm>
          <a:prstGeom prst="ellipse">
            <a:avLst/>
          </a:prstGeom>
          <a:solidFill>
            <a:srgbClr val="EA580C">
              <a:alpha val="80000"/>
            </a:srgbClr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40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6231" y="3182112"/>
            <a:ext cx="685800" cy="685800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3304911" y="315468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Admin Vezérlőpult</a:t>
            </a:r>
            <a:endParaRPr lang="en-US" sz="13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911" y="3749040"/>
            <a:ext cx="201168" cy="201168"/>
          </a:xfrm>
          <a:prstGeom prst="rect">
            <a:avLst/>
          </a:prstGeom>
        </p:spPr>
      </p:pic>
      <p:sp>
        <p:nvSpPr>
          <p:cNvPr id="43" name="Text 27"/>
          <p:cNvSpPr/>
          <p:nvPr/>
        </p:nvSpPr>
        <p:spPr>
          <a:xfrm>
            <a:off x="3579231" y="37216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Felhasználók kezelése</a:t>
            </a:r>
            <a:endParaRPr lang="en-US" sz="1000" dirty="0"/>
          </a:p>
        </p:txBody>
      </p:sp>
      <p:pic>
        <p:nvPicPr>
          <p:cNvPr id="44" name="Image 1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911" y="4041648"/>
            <a:ext cx="201168" cy="201168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3579231" y="4014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Parkolási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statisztikák</a:t>
            </a:r>
            <a:endParaRPr lang="en-US" sz="1000" dirty="0"/>
          </a:p>
        </p:txBody>
      </p:sp>
      <p:pic>
        <p:nvPicPr>
          <p:cNvPr id="46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911" y="4334256"/>
            <a:ext cx="201168" cy="201168"/>
          </a:xfrm>
          <a:prstGeom prst="rect">
            <a:avLst/>
          </a:prstGeom>
        </p:spPr>
      </p:pic>
      <p:sp>
        <p:nvSpPr>
          <p:cNvPr id="47" name="Text 29"/>
          <p:cNvSpPr/>
          <p:nvPr/>
        </p:nvSpPr>
        <p:spPr>
          <a:xfrm>
            <a:off x="3579231" y="43068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48" name="Text 28">
            <a:extLst>
              <a:ext uri="{FF2B5EF4-FFF2-40B4-BE49-F238E27FC236}">
                <a16:creationId xmlns:a16="http://schemas.microsoft.com/office/drawing/2014/main" id="{A053D178-3868-E243-9057-836EFCCC3800}"/>
              </a:ext>
            </a:extLst>
          </p:cNvPr>
          <p:cNvSpPr/>
          <p:nvPr/>
        </p:nvSpPr>
        <p:spPr>
          <a:xfrm>
            <a:off x="3579231" y="43068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Cégekre szűrés lehetősége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1699F7-E0B1-37A8-C7FD-AD037A1AA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3DC95F-E299-F428-7B00-94EDC2B44676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58" name="Kép 57">
            <a:extLst>
              <a:ext uri="{FF2B5EF4-FFF2-40B4-BE49-F238E27FC236}">
                <a16:creationId xmlns:a16="http://schemas.microsoft.com/office/drawing/2014/main" id="{D010AA71-24EC-E2FF-C0B9-A86E074C5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2125" y="1788607"/>
            <a:ext cx="6685200" cy="324067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6" name="Kép 55">
            <a:extLst>
              <a:ext uri="{FF2B5EF4-FFF2-40B4-BE49-F238E27FC236}">
                <a16:creationId xmlns:a16="http://schemas.microsoft.com/office/drawing/2014/main" id="{D0F5C2F0-861F-C9B4-7383-3545F7040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130" y="822960"/>
            <a:ext cx="6684620" cy="321878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9" name="Text 1">
            <a:extLst>
              <a:ext uri="{FF2B5EF4-FFF2-40B4-BE49-F238E27FC236}">
                <a16:creationId xmlns:a16="http://schemas.microsoft.com/office/drawing/2014/main" id="{CB75538B-A19B-8454-FE26-7C4E1680527C}"/>
              </a:ext>
            </a:extLst>
          </p:cNvPr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 fő oldal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8712350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D72C46-BDDA-F299-A43A-FF4F99AB2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BDB7B74-5049-66B0-F848-FB287039B82C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56" name="Kép 55">
            <a:extLst>
              <a:ext uri="{FF2B5EF4-FFF2-40B4-BE49-F238E27FC236}">
                <a16:creationId xmlns:a16="http://schemas.microsoft.com/office/drawing/2014/main" id="{FB9E450A-5230-CE5A-FCB9-EDCF2309C1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130" y="822960"/>
            <a:ext cx="6684620" cy="321878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9" name="Text 1">
            <a:extLst>
              <a:ext uri="{FF2B5EF4-FFF2-40B4-BE49-F238E27FC236}">
                <a16:creationId xmlns:a16="http://schemas.microsoft.com/office/drawing/2014/main" id="{B29A4E9E-ACD1-077E-B143-D17454ACDC6F}"/>
              </a:ext>
            </a:extLst>
          </p:cNvPr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Az </a:t>
            </a:r>
            <a:r>
              <a:rPr lang="hu-HU" sz="36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aldomain</a:t>
            </a:r>
            <a:r>
              <a:rPr lang="hu-HU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oldal</a:t>
            </a:r>
            <a:endParaRPr lang="en-US" sz="3600" dirty="0"/>
          </a:p>
        </p:txBody>
      </p:sp>
      <p:pic>
        <p:nvPicPr>
          <p:cNvPr id="58" name="Kép 57">
            <a:extLst>
              <a:ext uri="{FF2B5EF4-FFF2-40B4-BE49-F238E27FC236}">
                <a16:creationId xmlns:a16="http://schemas.microsoft.com/office/drawing/2014/main" id="{73194243-F630-6B7D-2B18-B8A5C4A467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2125" y="1788607"/>
            <a:ext cx="6685200" cy="324067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2225930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23FE81-749B-27EA-4890-6C4123752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4C68568-42EC-DDA4-1EC1-72E20CF6F367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9" name="Text 1">
            <a:extLst>
              <a:ext uri="{FF2B5EF4-FFF2-40B4-BE49-F238E27FC236}">
                <a16:creationId xmlns:a16="http://schemas.microsoft.com/office/drawing/2014/main" id="{E79BD392-D1BD-A16D-B57B-5FD33F4C3A1A}"/>
              </a:ext>
            </a:extLst>
          </p:cNvPr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Az </a:t>
            </a:r>
            <a:r>
              <a:rPr lang="hu-HU" sz="36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admin</a:t>
            </a:r>
            <a:r>
              <a:rPr lang="hu-HU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oldal</a:t>
            </a:r>
            <a:endParaRPr lang="en-US" sz="36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F13E064-5EA6-96FD-3A02-D9B3048EF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83" y="938892"/>
            <a:ext cx="8170817" cy="387038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3447673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9B5377-7F8D-559B-3D67-6AE8F9896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B7A3E89-9FD1-4D1F-7B69-07ED436BE6AC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58" name="Kép 57">
            <a:extLst>
              <a:ext uri="{FF2B5EF4-FFF2-40B4-BE49-F238E27FC236}">
                <a16:creationId xmlns:a16="http://schemas.microsoft.com/office/drawing/2014/main" id="{2E9AA536-56D6-984A-2AE6-933ADE8F6A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02228" y="1464867"/>
            <a:ext cx="7464081" cy="35244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9" name="Text 1">
            <a:extLst>
              <a:ext uri="{FF2B5EF4-FFF2-40B4-BE49-F238E27FC236}">
                <a16:creationId xmlns:a16="http://schemas.microsoft.com/office/drawing/2014/main" id="{6D13D4A0-BF9E-17D2-F437-1084A0F2C2D6}"/>
              </a:ext>
            </a:extLst>
          </p:cNvPr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600" b="1" dirty="0">
                <a:solidFill>
                  <a:srgbClr val="FFFFFF"/>
                </a:solidFill>
                <a:latin typeface="Arial Black" pitchFamily="34" charset="0"/>
              </a:rPr>
              <a:t>Hardveres eszközök</a:t>
            </a:r>
            <a:endParaRPr lang="en-US" sz="36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1C68363-92C5-75C2-E907-9984E7D26F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238" r="2" b="11101"/>
          <a:stretch>
            <a:fillRect/>
          </a:stretch>
        </p:blipFill>
        <p:spPr>
          <a:xfrm>
            <a:off x="296826" y="822960"/>
            <a:ext cx="6685200" cy="352327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0259371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4C9AFB-EC97-C801-D018-9A83B2FBD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8544A46-D8AE-5045-82CE-395CD4750A72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9" name="Text 1">
            <a:extLst>
              <a:ext uri="{FF2B5EF4-FFF2-40B4-BE49-F238E27FC236}">
                <a16:creationId xmlns:a16="http://schemas.microsoft.com/office/drawing/2014/main" id="{EC16A5A5-9846-4E12-C4CB-EBC96C48F148}"/>
              </a:ext>
            </a:extLst>
          </p:cNvPr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3D modellezés</a:t>
            </a:r>
            <a:endParaRPr lang="en-US" sz="36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611B389-B2A7-FBAA-E1BD-13CCF00EA7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238" r="2" b="11101"/>
          <a:stretch>
            <a:fillRect/>
          </a:stretch>
        </p:blipFill>
        <p:spPr>
          <a:xfrm>
            <a:off x="296826" y="822960"/>
            <a:ext cx="6685200" cy="352327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8" name="Kép 57">
            <a:extLst>
              <a:ext uri="{FF2B5EF4-FFF2-40B4-BE49-F238E27FC236}">
                <a16:creationId xmlns:a16="http://schemas.microsoft.com/office/drawing/2014/main" id="{36700845-3634-3015-6094-FFA4F700935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02228" y="1464867"/>
            <a:ext cx="7464081" cy="35244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604679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C0136-3C86-F44E-E187-FFD11F18C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FCBEF1E-6E68-F3CC-E93F-0FC15348EFD7}"/>
              </a:ext>
            </a:extLst>
          </p:cNvPr>
          <p:cNvSpPr/>
          <p:nvPr/>
        </p:nvSpPr>
        <p:spPr>
          <a:xfrm>
            <a:off x="0" y="39189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9C5B7C-BD7F-0614-B543-0F1C6FD5060F}"/>
              </a:ext>
            </a:extLst>
          </p:cNvPr>
          <p:cNvSpPr/>
          <p:nvPr/>
        </p:nvSpPr>
        <p:spPr>
          <a:xfrm>
            <a:off x="5486400" y="39189"/>
            <a:ext cx="3657600" cy="5143500"/>
          </a:xfrm>
          <a:prstGeom prst="rect">
            <a:avLst/>
          </a:prstGeom>
          <a:solidFill>
            <a:srgbClr val="1A56DB">
              <a:alpha val="15000"/>
            </a:srgbClr>
          </a:solidFill>
          <a:ln w="12700">
            <a:solidFill>
              <a:srgbClr val="1A56DB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9F8E33B-BAC5-A5EF-9F85-6C48487891F0}"/>
              </a:ext>
            </a:extLst>
          </p:cNvPr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9CF74C7-E1F8-47A7-8D24-5E250393E133}"/>
              </a:ext>
            </a:extLst>
          </p:cNvPr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2FB6A25-E4AB-031E-37F5-3729D1E85D35}"/>
              </a:ext>
            </a:extLst>
          </p:cNvPr>
          <p:cNvSpPr/>
          <p:nvPr/>
        </p:nvSpPr>
        <p:spPr>
          <a:xfrm>
            <a:off x="457200" y="398417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Össze</a:t>
            </a:r>
            <a:r>
              <a:rPr lang="hu-HU" sz="40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gzés</a:t>
            </a:r>
            <a:endParaRPr lang="hu-HU" sz="40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9A55E57-A3E9-998A-08F7-B7D386647966}"/>
              </a:ext>
            </a:extLst>
          </p:cNvPr>
          <p:cNvSpPr/>
          <p:nvPr/>
        </p:nvSpPr>
        <p:spPr>
          <a:xfrm>
            <a:off x="282663" y="1521773"/>
            <a:ext cx="4282806" cy="1655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hu-HU" sz="1400" dirty="0">
                <a:solidFill>
                  <a:schemeClr val="bg1"/>
                </a:solidFill>
              </a:rPr>
              <a:t>Csapatmunka nehézségei, kihívásai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hu-HU" sz="1400" dirty="0">
                <a:solidFill>
                  <a:schemeClr val="bg1"/>
                </a:solidFill>
              </a:rPr>
              <a:t>Informatikai – programozással kapcsolatos problémák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hu-HU" sz="1400" dirty="0">
                <a:solidFill>
                  <a:schemeClr val="bg1"/>
                </a:solidFill>
              </a:rPr>
              <a:t>Hardverekkel való munka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hu-HU" sz="1400" dirty="0">
                <a:solidFill>
                  <a:schemeClr val="bg1"/>
                </a:solidFill>
              </a:rPr>
              <a:t>Programozási nyelvek összeegyeztet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AF949681-0425-5DCB-D70F-475170B3C319}"/>
              </a:ext>
            </a:extLst>
          </p:cNvPr>
          <p:cNvSpPr txBox="1"/>
          <p:nvPr/>
        </p:nvSpPr>
        <p:spPr>
          <a:xfrm>
            <a:off x="5486400" y="1198607"/>
            <a:ext cx="27165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rgbClr val="FFFFFF"/>
                </a:solidFill>
                <a:latin typeface="Arial Black" pitchFamily="34" charset="0"/>
              </a:rPr>
              <a:t>Tervek a jövőre</a:t>
            </a:r>
            <a:endParaRPr lang="en-US" dirty="0"/>
          </a:p>
          <a:p>
            <a:endParaRPr lang="hu-HU" dirty="0"/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4F41CC70-DC6B-D62D-6D11-3458939BAFBF}"/>
              </a:ext>
            </a:extLst>
          </p:cNvPr>
          <p:cNvSpPr txBox="1"/>
          <p:nvPr/>
        </p:nvSpPr>
        <p:spPr>
          <a:xfrm>
            <a:off x="158217" y="1263610"/>
            <a:ext cx="27165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rgbClr val="FFFFFF"/>
                </a:solidFill>
                <a:latin typeface="Arial Black" pitchFamily="34" charset="0"/>
              </a:rPr>
              <a:t>Tapasztalataink</a:t>
            </a:r>
            <a:endParaRPr lang="en-US" dirty="0"/>
          </a:p>
          <a:p>
            <a:endParaRPr lang="hu-HU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7DD0C566-F441-CB22-064E-106709BA0555}"/>
              </a:ext>
            </a:extLst>
          </p:cNvPr>
          <p:cNvSpPr/>
          <p:nvPr/>
        </p:nvSpPr>
        <p:spPr>
          <a:xfrm>
            <a:off x="5562200" y="1404256"/>
            <a:ext cx="4282806" cy="1655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hu-HU" sz="1400" dirty="0">
                <a:solidFill>
                  <a:schemeClr val="bg1"/>
                </a:solidFill>
              </a:rPr>
              <a:t>Az oldal továbbfejlesztése, új funkciók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hu-HU" sz="1400" dirty="0">
                <a:solidFill>
                  <a:schemeClr val="bg1"/>
                </a:solidFill>
              </a:rPr>
              <a:t>Fizetés lehetősége az oldalon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hu-HU" sz="1400" dirty="0">
                <a:solidFill>
                  <a:schemeClr val="bg1"/>
                </a:solidFill>
              </a:rPr>
              <a:t>Biztonsági kiengedés funkció létrehozása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hu-HU" sz="1400" dirty="0">
                <a:solidFill>
                  <a:schemeClr val="bg1"/>
                </a:solidFill>
              </a:rPr>
              <a:t>Hőmérséklet mérő építése a mikrovezérlőbe</a:t>
            </a:r>
          </a:p>
        </p:txBody>
      </p:sp>
    </p:spTree>
    <p:extLst>
      <p:ext uri="{BB962C8B-B14F-4D97-AF65-F5344CB8AC3E}">
        <p14:creationId xmlns:p14="http://schemas.microsoft.com/office/powerpoint/2010/main" val="28330544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1A56DB">
              <a:alpha val="15000"/>
            </a:srgbClr>
          </a:solidFill>
          <a:ln w="12700">
            <a:solidFill>
              <a:srgbClr val="1A56DB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Összefoglalás</a:t>
            </a:r>
            <a:endParaRPr lang="en-US" sz="40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8016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25272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arkolókezelő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webalkalmazás elkészítése</a:t>
            </a:r>
            <a:endParaRPr lang="en-US" sz="14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47088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1965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Biztonságos admin felület vezérlőpulttal és statisztikákkal</a:t>
            </a:r>
            <a:endParaRPr lang="en-US" sz="14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14016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17320" y="238658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adatbázis tervezés és megvalósítás</a:t>
            </a:r>
            <a:endParaRPr lang="en-US" sz="14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980944"/>
            <a:ext cx="347472" cy="34747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417320" y="295351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nyomtatott sorompó </a:t>
            </a:r>
            <a:r>
              <a:rPr lang="hu-HU" sz="14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egyedileg összeválogatott hardveres eszközökkel</a:t>
            </a:r>
            <a:endParaRPr lang="en-US" sz="1400" dirty="0"/>
          </a:p>
        </p:txBody>
      </p:sp>
      <p:sp>
        <p:nvSpPr>
          <p:cNvPr id="17" name="Shape 10"/>
          <p:cNvSpPr/>
          <p:nvPr/>
        </p:nvSpPr>
        <p:spPr>
          <a:xfrm>
            <a:off x="457200" y="4206240"/>
            <a:ext cx="8229600" cy="685800"/>
          </a:xfrm>
          <a:prstGeom prst="rect">
            <a:avLst/>
          </a:prstGeom>
          <a:solidFill>
            <a:srgbClr val="1A56DB">
              <a:alpha val="80000"/>
            </a:srgbClr>
          </a:solidFill>
          <a:ln w="12700">
            <a:solidFill>
              <a:srgbClr val="60A5FA">
                <a:alpha val="7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Text 11"/>
          <p:cNvSpPr/>
          <p:nvPr/>
        </p:nvSpPr>
        <p:spPr>
          <a:xfrm>
            <a:off x="457200" y="4206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Köszönjük a figyelmet!  </a:t>
            </a:r>
            <a:r>
              <a:rPr lang="hu-HU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Készítette: Kothencz Martin és </a:t>
            </a:r>
            <a:r>
              <a:rPr lang="hu-HU" sz="16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Lenhardt</a:t>
            </a:r>
            <a:r>
              <a:rPr lang="hu-HU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Károly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266</Words>
  <Application>Microsoft Office PowerPoint</Application>
  <PresentationFormat>Diavetítés a képernyőre (16:9 oldalarány)</PresentationFormat>
  <Paragraphs>79</Paragraphs>
  <Slides>16</Slides>
  <Notes>11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16</vt:i4>
      </vt:variant>
    </vt:vector>
  </HeadingPairs>
  <TitlesOfParts>
    <vt:vector size="20" baseType="lpstr">
      <vt:lpstr>Arial</vt:lpstr>
      <vt:lpstr>Arial Black</vt:lpstr>
      <vt:lpstr>Calibri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ProParking – Okos Parkolórendszer</dc:title>
  <dc:subject>PptxGenJS Presentation</dc:subject>
  <dc:creator>PptxGenJS</dc:creator>
  <cp:lastModifiedBy>O365 felhasználó</cp:lastModifiedBy>
  <cp:revision>65</cp:revision>
  <dcterms:created xsi:type="dcterms:W3CDTF">2026-05-12T11:45:19Z</dcterms:created>
  <dcterms:modified xsi:type="dcterms:W3CDTF">2026-05-20T10:13:02Z</dcterms:modified>
</cp:coreProperties>
</file>