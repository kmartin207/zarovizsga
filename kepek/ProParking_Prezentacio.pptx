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5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2" r:id="rId5"/>
    <p:sldId id="269" r:id="rId6"/>
    <p:sldId id="261" r:id="rId7"/>
    <p:sldId id="268" r:id="rId8"/>
    <p:sldId id="266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4EF2BE-7660-5156-3567-9A4F579B6D5B}" name="O365 felhasználó" initials="Of" userId="S::ee48c77f-2ed1-452c-aa27-2c9e147abb3b@m365.edu.hu::9820bb1e-df60-4aa4-b49a-bed5d0b2ff6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16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8/10/relationships/authors" Target="author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omments/modernComment_10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15BF539-CBEC-4E68-A582-CA54676B0CD8}" authorId="{BB4EF2BE-7660-5156-3567-9A4F579B6D5B}" created="2026-05-18T18:04:55.923">
    <pc:sldMkLst xmlns:pc="http://schemas.microsoft.com/office/powerpoint/2013/main/command">
      <pc:docMk/>
      <pc:sldMk cId="0" sldId="261"/>
    </pc:sldMkLst>
    <p188:txBody>
      <a:bodyPr/>
      <a:lstStyle/>
      <a:p>
        <a:r>
          <a:rPr lang="hu-HU"/>
          <a:t>Megjegyzeseket irni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2806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7143-53F3-433D-D151-C0E89C596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0244B-D371-2960-D3CD-C1EF90076E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D66FA-FAFF-3EBC-E166-E01816066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A06377-DE87-DEEA-C58D-FD4530CEBB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82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60A5FA">
              <a:alpha val="60000"/>
            </a:srgbClr>
          </a:solidFill>
          <a:ln w="12700">
            <a:solidFill>
              <a:srgbClr val="60A5F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57200" y="365760"/>
            <a:ext cx="640080" cy="6400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384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ProParking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Okos Parkolórendszer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Informatikai Projekt – Szakmai Vizsga Bemutató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5720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9"/>
          <p:cNvSpPr/>
          <p:nvPr/>
        </p:nvSpPr>
        <p:spPr>
          <a:xfrm>
            <a:off x="45720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Webalkalmazás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032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Text 11"/>
          <p:cNvSpPr/>
          <p:nvPr/>
        </p:nvSpPr>
        <p:spPr>
          <a:xfrm>
            <a:off x="256032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Felület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3"/>
          <p:cNvSpPr/>
          <p:nvPr/>
        </p:nvSpPr>
        <p:spPr>
          <a:xfrm>
            <a:off x="466344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Hardveres kihívás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766560" y="3474720"/>
            <a:ext cx="1920240" cy="411480"/>
          </a:xfrm>
          <a:prstGeom prst="roundRect">
            <a:avLst>
              <a:gd name="adj" fmla="val 11111"/>
            </a:avLst>
          </a:prstGeom>
          <a:solidFill>
            <a:srgbClr val="1A56DB">
              <a:alpha val="70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Text 15"/>
          <p:cNvSpPr/>
          <p:nvPr/>
        </p:nvSpPr>
        <p:spPr>
          <a:xfrm>
            <a:off x="6766560" y="3493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Szakmai Vizsga  ·  Informatika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Miért pont ez a projekt?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projekt motivációja és célkitűzései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Shape 5"/>
          <p:cNvSpPr/>
          <p:nvPr/>
        </p:nvSpPr>
        <p:spPr>
          <a:xfrm>
            <a:off x="118872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1801368"/>
            <a:ext cx="685800" cy="685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Elavult megoldások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1148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hagyományos parkolórendszerek nem nyújtanak valós idejű adatokat, sok az emberi hiba és az átláthatatlan adminisztráció.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 dirty="0"/>
          </a:p>
        </p:txBody>
      </p:sp>
      <p:sp>
        <p:nvSpPr>
          <p:cNvPr id="12" name="Shape 9"/>
          <p:cNvSpPr/>
          <p:nvPr/>
        </p:nvSpPr>
        <p:spPr>
          <a:xfrm>
            <a:off x="320040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0"/>
          <p:cNvSpPr/>
          <p:nvPr/>
        </p:nvSpPr>
        <p:spPr>
          <a:xfrm>
            <a:off x="406908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1801368"/>
            <a:ext cx="685800" cy="6858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0040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Hatékonyság igénye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9184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Célunk a cégekkel való együttműködés lehető legmagasabb szinten.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80760" y="1508760"/>
            <a:ext cx="2651760" cy="310896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080760" y="1508760"/>
            <a:ext cx="26517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6949440" y="1691640"/>
            <a:ext cx="914400" cy="914400"/>
          </a:xfrm>
          <a:prstGeom prst="ellipse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9168" y="1801368"/>
            <a:ext cx="685800" cy="685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080760" y="2743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Informatikai kihívás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2461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 webalkalmazást akartunk fejleszteni – adatbázissal, admin felülettel, felhasználókezeléssel</a:t>
            </a:r>
            <a:r>
              <a:rPr lang="hu-HU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illetve szerettünk volna megvalósítani egy hardveres kihívást is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Felhasznált Technológiák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E34F26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64008"/>
          </a:xfrm>
          <a:prstGeom prst="rect">
            <a:avLst/>
          </a:prstGeom>
          <a:solidFill>
            <a:srgbClr val="E34F26"/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" cy="822960"/>
          </a:xfrm>
          <a:prstGeom prst="ellipse">
            <a:avLst/>
          </a:prstGeom>
          <a:solidFill>
            <a:srgbClr val="E34F26">
              <a:alpha val="80000"/>
            </a:srgbClr>
          </a:solidFill>
          <a:ln w="12700">
            <a:solidFill>
              <a:srgbClr val="E34F26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7160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HTML5 / CSS3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Strukturált, reszponzív frontend kialakítás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F7DF1E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9"/>
          <p:cNvSpPr/>
          <p:nvPr/>
        </p:nvSpPr>
        <p:spPr>
          <a:xfrm>
            <a:off x="3383280" y="1325880"/>
            <a:ext cx="822960" cy="822960"/>
          </a:xfrm>
          <a:prstGeom prst="ellipse">
            <a:avLst/>
          </a:prstGeom>
          <a:solidFill>
            <a:srgbClr val="F7DF1E">
              <a:alpha val="80000"/>
            </a:srgbClr>
          </a:solidFill>
          <a:ln w="12700">
            <a:solidFill>
              <a:srgbClr val="F7DF1E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371600"/>
            <a:ext cx="731520" cy="7315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9768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3756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Dinamikus felhasználói felület, AJAX kérések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1887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777BB4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7" name="Shape 13"/>
          <p:cNvSpPr/>
          <p:nvPr/>
        </p:nvSpPr>
        <p:spPr>
          <a:xfrm>
            <a:off x="6172200" y="1188720"/>
            <a:ext cx="2743200" cy="64008"/>
          </a:xfrm>
          <a:prstGeom prst="rect">
            <a:avLst/>
          </a:prstGeom>
          <a:solidFill>
            <a:srgbClr val="777BB4"/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309360" y="1325880"/>
            <a:ext cx="822960" cy="822960"/>
          </a:xfrm>
          <a:prstGeom prst="ellipse">
            <a:avLst/>
          </a:prstGeom>
          <a:solidFill>
            <a:srgbClr val="777BB4">
              <a:alpha val="80000"/>
            </a:srgbClr>
          </a:solidFill>
          <a:ln w="12700">
            <a:solidFill>
              <a:srgbClr val="777BB4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71600"/>
            <a:ext cx="731520" cy="7315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23760" y="12984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63640" y="21488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oldali logika, session kezelés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30175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4479A1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3" name="Shape 18"/>
          <p:cNvSpPr/>
          <p:nvPr/>
        </p:nvSpPr>
        <p:spPr>
          <a:xfrm>
            <a:off x="320040" y="3017520"/>
            <a:ext cx="2743200" cy="64008"/>
          </a:xfrm>
          <a:prstGeom prst="rect">
            <a:avLst/>
          </a:prstGeom>
          <a:solidFill>
            <a:srgbClr val="4479A1"/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19"/>
          <p:cNvSpPr/>
          <p:nvPr/>
        </p:nvSpPr>
        <p:spPr>
          <a:xfrm>
            <a:off x="457200" y="3154680"/>
            <a:ext cx="822960" cy="822960"/>
          </a:xfrm>
          <a:prstGeom prst="ellipse">
            <a:avLst/>
          </a:prstGeom>
          <a:solidFill>
            <a:srgbClr val="4479A1">
              <a:alpha val="80000"/>
            </a:srgbClr>
          </a:solidFill>
          <a:ln w="12700">
            <a:solidFill>
              <a:srgbClr val="4479A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200400"/>
            <a:ext cx="731520" cy="7315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7160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1148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Relációs adatbázis, optimalizált lekérdezések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172200" y="3017520"/>
            <a:ext cx="2743200" cy="1554480"/>
          </a:xfrm>
          <a:prstGeom prst="rect">
            <a:avLst/>
          </a:prstGeom>
          <a:solidFill>
            <a:srgbClr val="142237"/>
          </a:solidFill>
          <a:ln w="12700">
            <a:solidFill>
              <a:srgbClr val="D2212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5" name="Shape 28"/>
          <p:cNvSpPr/>
          <p:nvPr/>
        </p:nvSpPr>
        <p:spPr>
          <a:xfrm>
            <a:off x="6172200" y="3017520"/>
            <a:ext cx="2743200" cy="64008"/>
          </a:xfrm>
          <a:prstGeom prst="rect">
            <a:avLst/>
          </a:prstGeom>
          <a:solidFill>
            <a:srgbClr val="D22128"/>
          </a:solidFill>
          <a:ln w="12700">
            <a:solidFill>
              <a:srgbClr val="D221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6" name="Shape 29"/>
          <p:cNvSpPr/>
          <p:nvPr/>
        </p:nvSpPr>
        <p:spPr>
          <a:xfrm>
            <a:off x="6309360" y="3154680"/>
            <a:ext cx="822960" cy="822960"/>
          </a:xfrm>
          <a:prstGeom prst="ellipse">
            <a:avLst/>
          </a:prstGeom>
          <a:solidFill>
            <a:srgbClr val="D22128">
              <a:alpha val="80000"/>
            </a:srgbClr>
          </a:solidFill>
          <a:ln w="12700">
            <a:solidFill>
              <a:srgbClr val="D221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3200400"/>
            <a:ext cx="731520" cy="7315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223760" y="312724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Micro Python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263640" y="3977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Hardveres rész működtetése.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Főbb Funkciók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1A56DB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51960" cy="5486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Shape 4"/>
          <p:cNvSpPr/>
          <p:nvPr/>
        </p:nvSpPr>
        <p:spPr>
          <a:xfrm>
            <a:off x="365760" y="1216152"/>
            <a:ext cx="777240" cy="777240"/>
          </a:xfrm>
          <a:prstGeom prst="ellipse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Regisztráció &amp; Bejelentkezés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182880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jelszó hashelés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12140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554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alapú autentikáció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241401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5448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4846320" y="109728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0D9488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6" name="Shape 10"/>
          <p:cNvSpPr/>
          <p:nvPr/>
        </p:nvSpPr>
        <p:spPr>
          <a:xfrm>
            <a:off x="4846320" y="1097280"/>
            <a:ext cx="4251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1"/>
          <p:cNvSpPr/>
          <p:nvPr/>
        </p:nvSpPr>
        <p:spPr>
          <a:xfrm>
            <a:off x="4937760" y="1216152"/>
            <a:ext cx="777240" cy="777240"/>
          </a:xfrm>
          <a:prstGeom prst="ellipse">
            <a:avLst/>
          </a:prstGeom>
          <a:solidFill>
            <a:srgbClr val="0D9488">
              <a:alpha val="8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261872"/>
            <a:ext cx="685800" cy="6858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52160" y="12344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828800"/>
            <a:ext cx="201168" cy="20116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126480" y="18013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121408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126480" y="2093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414016"/>
            <a:ext cx="201168" cy="20116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126480" y="23865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26" name="Shape 16"/>
          <p:cNvSpPr/>
          <p:nvPr/>
        </p:nvSpPr>
        <p:spPr>
          <a:xfrm>
            <a:off x="274320" y="301752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7C3AED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27" name="Shape 17"/>
          <p:cNvSpPr/>
          <p:nvPr/>
        </p:nvSpPr>
        <p:spPr>
          <a:xfrm>
            <a:off x="274320" y="3017520"/>
            <a:ext cx="42519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Shape 18"/>
          <p:cNvSpPr/>
          <p:nvPr/>
        </p:nvSpPr>
        <p:spPr>
          <a:xfrm>
            <a:off x="365760" y="3136392"/>
            <a:ext cx="777240" cy="77724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182112"/>
            <a:ext cx="685800" cy="6858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12801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</a:t>
            </a:r>
            <a:endParaRPr lang="en-US" sz="13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3749040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554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04164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15544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160" y="4334256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155448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4846320" y="3017520"/>
            <a:ext cx="4251960" cy="1691640"/>
          </a:xfrm>
          <a:prstGeom prst="rect">
            <a:avLst/>
          </a:prstGeom>
          <a:solidFill>
            <a:srgbClr val="142237"/>
          </a:solidFill>
          <a:ln w="12700">
            <a:solidFill>
              <a:srgbClr val="EA580C">
                <a:alpha val="5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38" name="Shape 24"/>
          <p:cNvSpPr/>
          <p:nvPr/>
        </p:nvSpPr>
        <p:spPr>
          <a:xfrm>
            <a:off x="4846320" y="3017520"/>
            <a:ext cx="4251960" cy="5486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9" name="Shape 25"/>
          <p:cNvSpPr/>
          <p:nvPr/>
        </p:nvSpPr>
        <p:spPr>
          <a:xfrm>
            <a:off x="4937760" y="3136392"/>
            <a:ext cx="777240" cy="777240"/>
          </a:xfrm>
          <a:prstGeom prst="ellipse">
            <a:avLst/>
          </a:prstGeom>
          <a:solidFill>
            <a:srgbClr val="EA580C">
              <a:alpha val="80000"/>
            </a:srgbClr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182112"/>
            <a:ext cx="685800" cy="685800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5852160" y="31546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Vezérlőpult</a:t>
            </a:r>
            <a:endParaRPr lang="en-US" sz="13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749040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126480" y="37216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 kezelése</a:t>
            </a:r>
            <a:endParaRPr lang="en-US" sz="10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041648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126480" y="40142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Felhasználói</a:t>
            </a: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statisztikák</a:t>
            </a:r>
            <a:endParaRPr lang="en-US" sz="10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4334256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126480" y="430682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10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B461465-8531-1891-7311-B32F76740C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83"/>
          <a:stretch>
            <a:fillRect/>
          </a:stretch>
        </p:blipFill>
        <p:spPr>
          <a:xfrm>
            <a:off x="156753" y="857676"/>
            <a:ext cx="8837024" cy="4194384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FF2D50A-A540-0AE1-2EFD-7A3C83A97752}"/>
              </a:ext>
            </a:extLst>
          </p:cNvPr>
          <p:cNvSpPr/>
          <p:nvPr/>
        </p:nvSpPr>
        <p:spPr>
          <a:xfrm>
            <a:off x="235131" y="5431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</a:rPr>
              <a:t>Adatbázisunk teljes szerkezete</a:t>
            </a:r>
            <a:endParaRPr lang="en-US" sz="3600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D43F0183-3B15-36E8-668D-4FDA8A9919E3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6559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Adatbázis Struktúra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Relációs MySQL adatbázis – </a:t>
            </a:r>
            <a:r>
              <a:rPr lang="en-US" sz="1400" i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főbb</a:t>
            </a:r>
            <a:r>
              <a:rPr lang="en-US" sz="14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 err="1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táblák</a:t>
            </a:r>
            <a:endParaRPr lang="en-US" sz="1400" dirty="0"/>
          </a:p>
        </p:txBody>
      </p:sp>
      <p:pic>
        <p:nvPicPr>
          <p:cNvPr id="54" name="Kép 53">
            <a:extLst>
              <a:ext uri="{FF2B5EF4-FFF2-40B4-BE49-F238E27FC236}">
                <a16:creationId xmlns:a16="http://schemas.microsoft.com/office/drawing/2014/main" id="{CC2979F8-18BB-1C86-E2BA-AC60254EB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658" y="1286987"/>
            <a:ext cx="4416707" cy="3706289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BE378-777F-D76C-3795-DFB1502F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B10832-7830-654A-3D61-57F6E97E0427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607D84A-E58F-AFA9-F419-BAC7392679D9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hu-HU" sz="3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r>
              <a:rPr lang="hu-HU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felület bemutatása	</a:t>
            </a:r>
            <a:endParaRPr lang="en-US" sz="3600" dirty="0"/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6604322D-714B-FD3B-445E-084E6679A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4" y="868680"/>
            <a:ext cx="8243431" cy="390048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984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" name="Shape 1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56DB">
              <a:alpha val="15000"/>
            </a:srgbClr>
          </a:solidFill>
          <a:ln w="12700">
            <a:solidFill>
              <a:srgbClr val="1A56DB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Összefoglalás</a:t>
            </a:r>
            <a:endParaRPr lang="en-US" sz="4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5272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körű parkolókezelő webalkalmazás elkészítése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4708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1819656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Biztonságos admin felület vezérlőpulttal és statisztikákkal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14016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386584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adatbázis tervezés és megvalósítás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80944"/>
            <a:ext cx="347472" cy="34747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17320" y="2953512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Reszponzív, modern felhasználói felület kialakítása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47872"/>
            <a:ext cx="347472" cy="3474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17320" y="3520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Felhasználókezelés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A56DB">
              <a:alpha val="80000"/>
            </a:srgbClr>
          </a:solidFill>
          <a:ln w="12700">
            <a:solidFill>
              <a:srgbClr val="60A5FA">
                <a:alpha val="70000"/>
              </a:srgbClr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hu-HU"/>
          </a:p>
        </p:txBody>
      </p:sp>
      <p:sp>
        <p:nvSpPr>
          <p:cNvPr id="18" name="Text 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Köszönjük a figyelmet!  🅿 ProParking – Okos Parkolás a Jövőért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207</Words>
  <Application>Microsoft Office PowerPoint</Application>
  <PresentationFormat>Diavetítés a képernyőre (16:9 oldalarány)</PresentationFormat>
  <Paragraphs>62</Paragraphs>
  <Slides>8</Slides>
  <Notes>7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Calibri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ProParking – Okos Parkolórendszer</dc:title>
  <dc:subject>PptxGenJS Presentation</dc:subject>
  <dc:creator>PptxGenJS</dc:creator>
  <cp:lastModifiedBy>O365 felhasználó</cp:lastModifiedBy>
  <cp:revision>24</cp:revision>
  <dcterms:created xsi:type="dcterms:W3CDTF">2026-05-12T11:45:19Z</dcterms:created>
  <dcterms:modified xsi:type="dcterms:W3CDTF">2026-05-18T18:09:23Z</dcterms:modified>
</cp:coreProperties>
</file>